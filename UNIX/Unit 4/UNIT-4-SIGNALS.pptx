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presProps.xml" ContentType="application/vnd.openxmlformats-officedocument.presentationml.presPro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24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63.xml.rels" ContentType="application/vnd.openxmlformats-package.relationships+xml"/>
  <Override PartName="/ppt/slides/_rels/slide60.xml.rels" ContentType="application/vnd.openxmlformats-package.relationships+xml"/>
  <Override PartName="/ppt/slides/_rels/slide56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_rels/slide66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61.xml.rels" ContentType="application/vnd.openxmlformats-package.relationships+xml"/>
  <Override PartName="/ppt/slides/_rels/slide57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54.xml.rels" ContentType="application/vnd.openxmlformats-package.relationships+xml"/>
  <Override PartName="/ppt/slides/_rels/slide41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8.xml.rels" ContentType="application/vnd.openxmlformats-package.relationships+xml"/>
  <Override PartName="/ppt/slides/_rels/slide62.xml.rels" ContentType="application/vnd.openxmlformats-package.relationships+xml"/>
  <Override PartName="/ppt/slides/_rels/slide52.xml.rels" ContentType="application/vnd.openxmlformats-package.relationships+xml"/>
  <Override PartName="/ppt/slides/_rels/slide67.xml.rels" ContentType="application/vnd.openxmlformats-package.relationships+xml"/>
  <Override PartName="/ppt/slides/_rels/slide45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13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58.xml.rels" ContentType="application/vnd.openxmlformats-package.relationships+xml"/>
  <Override PartName="/ppt/slides/_rels/slide65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39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0CB97A-0938-4A23-8860-59FD131182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7F9189-A676-4207-8EA5-7C9436F5AA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B05DB-EE79-4D22-BD07-26C36EA675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867996-4F97-4EAB-832D-5EADCDF5B2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E56D9A-F210-4238-A64A-075D392565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6F3836-5A07-4AFC-BDDD-1BAB0CC486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DF17AA-BB56-4083-8B9E-920280C0D4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A8542-B736-4026-AB1B-02DD080A65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4E940B-007F-465B-9A50-16D7077E6F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F67856-C462-4292-A69A-AB46D28780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03A584-AB97-48AE-A7AE-D5C0546924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A18FA-1943-44A0-AFD9-DFB856A304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FC996B-727A-4E51-A0F9-F46D6EC3C6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2D55EB-C1B9-420C-94B5-75B5E605DE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E7F3B8-73F1-4F44-A917-F609B06F99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92BAE2-222B-4165-BD87-9D1A23E87E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6C4DB8-817A-4B29-8C33-F0AFB2289D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072C1E-ED0A-4648-95AF-3632CAAAF5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9D213C-1974-4F32-B8D5-70FE59DB57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B842CB-C560-4F90-B35E-DB527FE965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675C38-AFE4-4E01-9BDD-DF411309B4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DEC126-76CA-42DC-8723-AC380056B2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29A739-7CFB-4564-9EF3-0DEE846D3A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21B723-FF83-4F29-A81F-19EB7E8C17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k object 16"/>
          <p:cNvSpPr/>
          <p:nvPr/>
        </p:nvSpPr>
        <p:spPr>
          <a:xfrm>
            <a:off x="2880" y="6400800"/>
            <a:ext cx="12189240" cy="456840"/>
          </a:xfrm>
          <a:custGeom>
            <a:avLst/>
            <a:gdLst/>
            <a:ahLst/>
            <a:rect l="l" t="t" r="r" b="b"/>
            <a:pathLst>
              <a:path w="12189460" h="457200">
                <a:moveTo>
                  <a:pt x="0" y="457199"/>
                </a:moveTo>
                <a:lnTo>
                  <a:pt x="12188952" y="457199"/>
                </a:ln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1057320"/>
            <a:ext cx="11471760" cy="42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5360400" y="6583320"/>
            <a:ext cx="1474200" cy="12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b2b2b2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b2b2b2"/>
                </a:solidFill>
                <a:latin typeface="Calibri"/>
              </a:rPr>
              <a:t>&lt;date/time&gt;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10891800" y="6575400"/>
            <a:ext cx="25632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939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93960">
              <a:lnSpc>
                <a:spcPts val="1100"/>
              </a:lnSpc>
              <a:buNone/>
            </a:pPr>
            <a:fld id="{241F7ABD-50AC-49BB-9379-9E8D7204DB12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k object 16" hidden="1"/>
          <p:cNvSpPr/>
          <p:nvPr/>
        </p:nvSpPr>
        <p:spPr>
          <a:xfrm>
            <a:off x="2880" y="6400800"/>
            <a:ext cx="12189240" cy="456840"/>
          </a:xfrm>
          <a:custGeom>
            <a:avLst/>
            <a:gdLst/>
            <a:ahLst/>
            <a:rect l="l" t="t" r="r" b="b"/>
            <a:pathLst>
              <a:path w="12189460" h="457200">
                <a:moveTo>
                  <a:pt x="0" y="457199"/>
                </a:moveTo>
                <a:lnTo>
                  <a:pt x="12188952" y="457199"/>
                </a:ln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bk object 16"/>
          <p:cNvSpPr/>
          <p:nvPr/>
        </p:nvSpPr>
        <p:spPr>
          <a:xfrm>
            <a:off x="2880" y="6400800"/>
            <a:ext cx="12189240" cy="456840"/>
          </a:xfrm>
          <a:custGeom>
            <a:avLst/>
            <a:gdLst/>
            <a:ahLst/>
            <a:rect l="l" t="t" r="r" b="b"/>
            <a:pathLst>
              <a:path w="12189460" h="457200">
                <a:moveTo>
                  <a:pt x="0" y="457199"/>
                </a:moveTo>
                <a:lnTo>
                  <a:pt x="12188952" y="457199"/>
                </a:ln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bk object 17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5360400" y="6583320"/>
            <a:ext cx="1474200" cy="12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b2b2b2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b2b2b2"/>
                </a:solidFill>
                <a:latin typeface="Calibri"/>
              </a:rPr>
              <a:t>&lt;date/time&gt;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6"/>
          </p:nvPr>
        </p:nvSpPr>
        <p:spPr>
          <a:xfrm>
            <a:off x="10891800" y="6575400"/>
            <a:ext cx="25632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939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93960">
              <a:lnSpc>
                <a:spcPts val="1100"/>
              </a:lnSpc>
              <a:buNone/>
            </a:pPr>
            <a:fld id="{B9A9DB87-207B-46C3-A8D7-7F4F06236BE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17365d"/>
                </a:solidFill>
                <a:latin typeface="Cambria"/>
              </a:rPr>
              <a:t>UNIT – 4 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152280" y="762120"/>
            <a:ext cx="6171840" cy="426600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4000" spc="-1" strike="noStrike">
                <a:solidFill>
                  <a:srgbClr val="000000"/>
                </a:solidFill>
                <a:latin typeface="Calibri"/>
              </a:rPr>
              <a:t>Signals : </a:t>
            </a:r>
            <a:endParaRPr b="0" lang="en-IN" sz="4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Signals: The UNIX Kernel Support for Signals,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signal,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Signal Mask,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sigaction,</a:t>
            </a:r>
            <a:r>
              <a:rPr b="1" lang="en-IN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The SIGCHLD Signal and waitpid API,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The sigsetjmp and siglongjmp Functions,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kill,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alarm,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Interval Timers.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6934320" y="747360"/>
            <a:ext cx="4571640" cy="435744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4000" spc="-1" strike="noStrike">
                <a:solidFill>
                  <a:srgbClr val="000000"/>
                </a:solidFill>
                <a:latin typeface="Calibri"/>
              </a:rPr>
              <a:t>Daemon Process : </a:t>
            </a:r>
            <a:endParaRPr b="0" lang="en-IN" sz="40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Introduction,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Daemon Characteristics,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Coding Rules,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Error Logging, </a:t>
            </a: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Client- Server Model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42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1" name="Picture 3" descr=""/>
          <p:cNvPicPr/>
          <p:nvPr/>
        </p:nvPicPr>
        <p:blipFill>
          <a:blip r:embed="rId1"/>
          <a:stretch/>
        </p:blipFill>
        <p:spPr>
          <a:xfrm>
            <a:off x="380880" y="152280"/>
            <a:ext cx="11505960" cy="617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8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063D232F-7E9F-4171-828B-452BA53AFF1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364680" y="494640"/>
            <a:ext cx="11467080" cy="53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469800" indent="-45720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are software</a:t>
            </a:r>
            <a:r>
              <a:rPr b="0" lang="en-US" sz="28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interrupts.</a:t>
            </a:r>
            <a:endParaRPr b="0" lang="en-IN" sz="2800" spc="-1" strike="noStrike">
              <a:latin typeface="Arial"/>
            </a:endParaRPr>
          </a:p>
          <a:p>
            <a:pPr marL="469800" indent="-45720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provide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way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handling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asynchronous events: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user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terminal 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typing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interrupt 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key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stop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program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or 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next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program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in 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pipeline  terminating</a:t>
            </a:r>
            <a:r>
              <a:rPr b="0" lang="en-US" sz="28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prematurely.</a:t>
            </a:r>
            <a:endParaRPr b="0" lang="en-IN" sz="2800" spc="-1" strike="noStrike">
              <a:latin typeface="Arial"/>
            </a:endParaRPr>
          </a:p>
          <a:p>
            <a:pPr marL="469800" indent="-457200" algn="just">
              <a:lnSpc>
                <a:spcPct val="100000"/>
              </a:lnSpc>
              <a:spcBef>
                <a:spcPts val="132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When a signal is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sent 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process,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it is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pending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on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handle it. 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process can react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pending signals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one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three</a:t>
            </a:r>
            <a:r>
              <a:rPr b="0" lang="en-US" sz="2800" spc="23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ways:</a:t>
            </a:r>
            <a:endParaRPr b="0" lang="en-IN" sz="2800" spc="-1" strike="noStrike">
              <a:latin typeface="Arial"/>
            </a:endParaRPr>
          </a:p>
          <a:p>
            <a:pPr lvl="1" marL="984960" indent="-515520">
              <a:lnSpc>
                <a:spcPct val="100000"/>
              </a:lnSpc>
              <a:spcBef>
                <a:spcPts val="31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984960"/>
                <a:tab algn="l" pos="98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Accept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action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which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most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terminate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 lvl="1" marL="984960" indent="-5155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  <a:tabLst>
                <a:tab algn="l" pos="984960"/>
                <a:tab algn="l" pos="98568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signal. The 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discarded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has no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affect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whatsoever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4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400" spc="-1" strike="noStrike">
              <a:latin typeface="Arial"/>
            </a:endParaRPr>
          </a:p>
          <a:p>
            <a:pPr marL="984960">
              <a:lnSpc>
                <a:spcPct val="100000"/>
              </a:lnSpc>
              <a:spcBef>
                <a:spcPts val="6"/>
              </a:spcBef>
              <a:buNone/>
              <a:tabLst>
                <a:tab algn="l" pos="984960"/>
                <a:tab algn="l" pos="98568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recipient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 lvl="1" marL="984960" indent="-5155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 startAt="3"/>
              <a:tabLst>
                <a:tab algn="l" pos="984960"/>
                <a:tab algn="l" pos="985680"/>
                <a:tab algn="l" pos="3995280"/>
              </a:tabLst>
            </a:pP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Invoke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user-defined function. The function 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known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handler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routine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said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caught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called.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ftr" idx="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00" name="object 7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240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1" name="object 4"/>
          <p:cNvSpPr/>
          <p:nvPr/>
        </p:nvSpPr>
        <p:spPr>
          <a:xfrm>
            <a:off x="387000" y="462960"/>
            <a:ext cx="127908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</p:txBody>
      </p:sp>
      <p:graphicFrame>
        <p:nvGraphicFramePr>
          <p:cNvPr id="102" name="object 5"/>
          <p:cNvGraphicFramePr/>
          <p:nvPr/>
        </p:nvGraphicFramePr>
        <p:xfrm>
          <a:off x="1881000" y="1181520"/>
          <a:ext cx="8100360" cy="4717080"/>
        </p:xfrm>
        <a:graphic>
          <a:graphicData uri="http://schemas.openxmlformats.org/drawingml/2006/table">
            <a:tbl>
              <a:tblPr/>
              <a:tblGrid>
                <a:gridCol w="1271880"/>
                <a:gridCol w="4133160"/>
                <a:gridCol w="2695320"/>
              </a:tblGrid>
              <a:tr h="325800">
                <a:tc>
                  <a:txBody>
                    <a:bodyPr lIns="0" rIns="0" tIns="0" bIns="0" anchor="t">
                      <a:noAutofit/>
                    </a:bodyPr>
                    <a:p>
                      <a:pPr marL="414720">
                        <a:lnSpc>
                          <a:spcPts val="2276"/>
                        </a:lnSpc>
                        <a:buNone/>
                      </a:pP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9bb957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20760" algn="ctr">
                        <a:lnSpc>
                          <a:spcPts val="2276"/>
                        </a:lnSpc>
                        <a:buNone/>
                      </a:pP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9bb957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6480">
                        <a:lnSpc>
                          <a:spcPts val="2276"/>
                        </a:lnSpc>
                        <a:buNone/>
                      </a:pP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  <a:r>
                        <a:rPr b="1" lang="en-IN" sz="2000" spc="-5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9bb957"/>
                    </a:solidFill>
                  </a:tcPr>
                </a:tc>
              </a:tr>
              <a:tr h="365760">
                <a:tc>
                  <a:txBody>
                    <a:bodyPr lIns="0" rIns="0" tIns="2124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0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SIGABRT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24"/>
                        </a:lnSpc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abnormal termination</a:t>
                      </a:r>
                      <a:r>
                        <a:rPr b="0" lang="en-IN" sz="2400" spc="-80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b="0" lang="en-IN" sz="1800" spc="-7" strike="noStrike">
                          <a:solidFill>
                            <a:srgbClr val="000000"/>
                          </a:solidFill>
                          <a:latin typeface="Courier New"/>
                        </a:rPr>
                        <a:t>abort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24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terminate+core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65760">
                <a:tc>
                  <a:txBody>
                    <a:bodyPr lIns="0" rIns="0" tIns="2124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0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SIGALRM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timer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expired</a:t>
                      </a:r>
                      <a:r>
                        <a:rPr b="0" lang="en-IN" sz="2400" spc="-4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b="0" lang="en-IN" sz="1800" spc="-7" strike="noStrike">
                          <a:solidFill>
                            <a:srgbClr val="000000"/>
                          </a:solidFill>
                          <a:latin typeface="Courier New"/>
                        </a:rPr>
                        <a:t>alarm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5400">
                <a:tc>
                  <a:txBody>
                    <a:bodyPr lIns="0" rIns="0" tIns="2124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0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SIGCHLD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change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status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of</a:t>
                      </a:r>
                      <a:r>
                        <a:rPr b="0" lang="en-IN" sz="2400" spc="-66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child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ignore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65760">
                <a:tc>
                  <a:txBody>
                    <a:bodyPr lIns="0" rIns="0" tIns="2124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0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SIGCONT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continue stopped</a:t>
                      </a:r>
                      <a:r>
                        <a:rPr b="0" lang="en-IN" sz="24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continue/ignore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lIns="0" rIns="0" tIns="2124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0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SIGFPE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arithmetic</a:t>
                      </a:r>
                      <a:r>
                        <a:rPr b="0" lang="en-IN" sz="2400" spc="-4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exception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terminate+core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lIns="0" rIns="0" tIns="219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SIGINT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terminal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interrupt</a:t>
                      </a:r>
                      <a:r>
                        <a:rPr b="0" lang="en-IN" sz="2400" spc="-80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character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65400">
                <a:tc>
                  <a:txBody>
                    <a:bodyPr lIns="0" rIns="0" tIns="219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SIGIO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asynchronous</a:t>
                      </a:r>
                      <a:r>
                        <a:rPr b="0" lang="en-IN" sz="24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I/O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terminate/ignore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lIns="0" rIns="0" tIns="219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SIGKILL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termination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8280">
                <a:tc>
                  <a:txBody>
                    <a:bodyPr lIns="0" rIns="0" tIns="2340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84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SIGPIPE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44"/>
                        </a:lnSpc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write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pipe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with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r>
                        <a:rPr b="0" lang="en-IN" sz="2400" spc="-11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readers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44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lIns="0" rIns="0" tIns="219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SIGQUIT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terminal quit</a:t>
                      </a:r>
                      <a:r>
                        <a:rPr b="0" lang="en-IN" sz="2400" spc="-60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character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0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terminate+core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365400">
                <a:tc>
                  <a:txBody>
                    <a:bodyPr lIns="0" rIns="0" tIns="219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SIGSEGV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5"/>
                        </a:lnSpc>
                        <a:buNone/>
                      </a:pP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invalid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memory</a:t>
                      </a:r>
                      <a:r>
                        <a:rPr b="0" lang="en-IN" sz="2400" spc="-3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reference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5"/>
                        </a:lnSpc>
                        <a:buNone/>
                      </a:pP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terminate+core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66480">
                <a:tc>
                  <a:txBody>
                    <a:bodyPr lIns="0" rIns="0" tIns="219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SIGSTOP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8600">
                        <a:lnSpc>
                          <a:spcPts val="2735"/>
                        </a:lnSpc>
                        <a:buNone/>
                      </a:pPr>
                      <a:r>
                        <a:rPr b="0" lang="en-IN" sz="24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stop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1200">
                        <a:lnSpc>
                          <a:spcPts val="2735"/>
                        </a:lnSpc>
                        <a:buNone/>
                      </a:pP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stop</a:t>
                      </a:r>
                      <a:r>
                        <a:rPr b="0" lang="en-IN" sz="2400" spc="-5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0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1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090F9FB9-C986-43FD-B090-1355284D3DA7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07" name="object 4"/>
          <p:cNvSpPr/>
          <p:nvPr/>
        </p:nvSpPr>
        <p:spPr>
          <a:xfrm>
            <a:off x="387000" y="462960"/>
            <a:ext cx="127908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</p:txBody>
      </p:sp>
      <p:graphicFrame>
        <p:nvGraphicFramePr>
          <p:cNvPr id="108" name="object 5"/>
          <p:cNvGraphicFramePr/>
          <p:nvPr/>
        </p:nvGraphicFramePr>
        <p:xfrm>
          <a:off x="1283040" y="1550520"/>
          <a:ext cx="8989920" cy="2535120"/>
        </p:xfrm>
        <a:graphic>
          <a:graphicData uri="http://schemas.openxmlformats.org/drawingml/2006/table">
            <a:tbl>
              <a:tblPr/>
              <a:tblGrid>
                <a:gridCol w="1445760"/>
                <a:gridCol w="5076000"/>
                <a:gridCol w="2468160"/>
              </a:tblGrid>
              <a:tr h="325800">
                <a:tc>
                  <a:txBody>
                    <a:bodyPr lIns="0" rIns="0" tIns="0" bIns="0" anchor="t">
                      <a:noAutofit/>
                    </a:bodyPr>
                    <a:p>
                      <a:pPr marL="542160">
                        <a:lnSpc>
                          <a:spcPts val="2276"/>
                        </a:lnSpc>
                        <a:buNone/>
                      </a:pP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9bb957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51080">
                        <a:lnSpc>
                          <a:spcPts val="2276"/>
                        </a:lnSpc>
                        <a:buNone/>
                      </a:pP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9bb957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28280">
                        <a:lnSpc>
                          <a:spcPts val="2276"/>
                        </a:lnSpc>
                        <a:buNone/>
                      </a:pP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  <a:r>
                        <a:rPr b="1" lang="en-IN" sz="2000" spc="-60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9bb957"/>
                    </a:solidFill>
                  </a:tcPr>
                </a:tc>
              </a:tr>
              <a:tr h="326880">
                <a:tc>
                  <a:txBody>
                    <a:bodyPr lIns="0" rIns="0" tIns="180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14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SIGTTOU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7504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background write </a:t>
                      </a:r>
                      <a:r>
                        <a:rPr b="1" lang="en-IN" sz="1800" spc="-7" strike="noStrike">
                          <a:solidFill>
                            <a:srgbClr val="000000"/>
                          </a:solidFill>
                          <a:latin typeface="Courier New"/>
                        </a:rPr>
                        <a:t>to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control</a:t>
                      </a:r>
                      <a:r>
                        <a:rPr b="1" lang="en-IN" sz="1800" spc="-66" strike="noStrike">
                          <a:solidFill>
                            <a:srgbClr val="000000"/>
                          </a:solidFill>
                          <a:latin typeface="Courier New"/>
                        </a:rPr>
                        <a:t>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9312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stop</a:t>
                      </a:r>
                      <a:r>
                        <a:rPr b="1" lang="en-IN" sz="1800" spc="-35" strike="noStrike">
                          <a:solidFill>
                            <a:srgbClr val="000000"/>
                          </a:solidFill>
                          <a:latin typeface="Courier New"/>
                        </a:rPr>
                        <a:t>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process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471240">
                <a:tc>
                  <a:txBody>
                    <a:bodyPr lIns="0" rIns="0" tIns="741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584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SIGUSR1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70920" bIns="0" anchor="t">
                      <a:noAutofit/>
                    </a:bodyPr>
                    <a:p>
                      <a:pPr marL="275040">
                        <a:lnSpc>
                          <a:spcPct val="100000"/>
                        </a:lnSpc>
                        <a:spcBef>
                          <a:spcPts val="561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user-defined signal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  <a:tc>
                  <a:txBody>
                    <a:bodyPr lIns="0" rIns="0" tIns="70920" bIns="0" anchor="t">
                      <a:noAutofit/>
                    </a:bodyPr>
                    <a:p>
                      <a:pPr marL="393120">
                        <a:lnSpc>
                          <a:spcPct val="100000"/>
                        </a:lnSpc>
                        <a:spcBef>
                          <a:spcPts val="561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Terminate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noFill/>
                  </a:tcPr>
                </a:tc>
              </a:tr>
              <a:tr h="433440">
                <a:tc>
                  <a:txBody>
                    <a:bodyPr lIns="0" rIns="0" tIns="525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414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SIGUSR2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52560" bIns="0" anchor="t">
                      <a:noAutofit/>
                    </a:bodyPr>
                    <a:p>
                      <a:pPr marL="275040">
                        <a:lnSpc>
                          <a:spcPct val="100000"/>
                        </a:lnSpc>
                        <a:spcBef>
                          <a:spcPts val="414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user-defined signal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52560" bIns="0" anchor="t">
                      <a:noAutofit/>
                    </a:bodyPr>
                    <a:p>
                      <a:pPr marL="393120">
                        <a:lnSpc>
                          <a:spcPct val="100000"/>
                        </a:lnSpc>
                        <a:spcBef>
                          <a:spcPts val="414"/>
                        </a:spcBef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Terminate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25800"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ts val="2149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SIGTERM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13200">
                        <a:lnSpc>
                          <a:spcPts val="2149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termination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72320">
                        <a:lnSpc>
                          <a:spcPts val="2149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Terminate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25800"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SIGTSTP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1320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terminal stop</a:t>
                      </a:r>
                      <a:r>
                        <a:rPr b="1" lang="en-IN" sz="1800" spc="-32" strike="noStrike">
                          <a:solidFill>
                            <a:srgbClr val="000000"/>
                          </a:solidFill>
                          <a:latin typeface="Courier New"/>
                        </a:rPr>
                        <a:t>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character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7232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stop</a:t>
                      </a:r>
                      <a:r>
                        <a:rPr b="1" lang="en-IN" sz="1800" spc="-41" strike="noStrike">
                          <a:solidFill>
                            <a:srgbClr val="000000"/>
                          </a:solidFill>
                          <a:latin typeface="Courier New"/>
                        </a:rPr>
                        <a:t>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process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  <a:tr h="326160">
                <a:tc>
                  <a:txBody>
                    <a:bodyPr lIns="0" rIns="0" tIns="0" bIns="0" anchor="t">
                      <a:noAutofit/>
                    </a:bodyPr>
                    <a:p>
                      <a:pPr marL="6228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SIGTTIN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b3cc82"/>
                      </a:solidFill>
                    </a:lnL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1320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background read from control</a:t>
                      </a:r>
                      <a:r>
                        <a:rPr b="1" lang="en-IN" sz="1800" spc="-41" strike="noStrike">
                          <a:solidFill>
                            <a:srgbClr val="000000"/>
                          </a:solidFill>
                          <a:latin typeface="Courier New"/>
                        </a:rPr>
                        <a:t>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tty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72320">
                        <a:lnSpc>
                          <a:spcPts val="2154"/>
                        </a:lnSpc>
                        <a:buNone/>
                      </a:pP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stop</a:t>
                      </a:r>
                      <a:r>
                        <a:rPr b="1" lang="en-IN" sz="1800" spc="-41" strike="noStrike">
                          <a:solidFill>
                            <a:srgbClr val="000000"/>
                          </a:solidFill>
                          <a:latin typeface="Courier New"/>
                        </a:rPr>
                        <a:t> </a:t>
                      </a:r>
                      <a:r>
                        <a:rPr b="1" lang="en-IN" sz="1800" spc="-12" strike="noStrike">
                          <a:solidFill>
                            <a:srgbClr val="000000"/>
                          </a:solidFill>
                          <a:latin typeface="Courier New"/>
                        </a:rPr>
                        <a:t>process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b3cc82"/>
                      </a:solidFill>
                    </a:lnR>
                    <a:lnT w="12240">
                      <a:solidFill>
                        <a:srgbClr val="b3cc82"/>
                      </a:solidFill>
                    </a:lnT>
                    <a:lnB w="12240">
                      <a:solidFill>
                        <a:srgbClr val="b3cc82"/>
                      </a:solidFill>
                    </a:lnB>
                    <a:solidFill>
                      <a:srgbClr val="e6ecd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2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3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64CBB3E9-20CB-4D66-AD37-AD7BDBF3FE13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13" name="object 4"/>
          <p:cNvSpPr/>
          <p:nvPr/>
        </p:nvSpPr>
        <p:spPr>
          <a:xfrm>
            <a:off x="387000" y="362880"/>
            <a:ext cx="11058120" cy="54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1600" bIns="0" anchor="t">
            <a:spAutoFit/>
          </a:bodyPr>
          <a:p>
            <a:pPr marL="12600">
              <a:lnSpc>
                <a:spcPct val="100000"/>
              </a:lnSpc>
              <a:spcBef>
                <a:spcPts val="879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14480">
              <a:lnSpc>
                <a:spcPct val="100000"/>
              </a:lnSpc>
              <a:spcBef>
                <a:spcPts val="675"/>
              </a:spcBef>
              <a:buNone/>
            </a:pPr>
            <a:r>
              <a:rPr b="1" lang="en-US" sz="2400" spc="-7" strike="noStrike" u="heavy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Cambria"/>
              </a:rPr>
              <a:t>THE UNIX </a:t>
            </a:r>
            <a:r>
              <a:rPr b="1" lang="en-US" sz="2400" spc="-1" strike="noStrike" u="heavy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Cambria"/>
              </a:rPr>
              <a:t>KERNEL </a:t>
            </a:r>
            <a:r>
              <a:rPr b="1" lang="en-US" sz="2400" spc="-21" strike="noStrike" u="heavy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Cambria"/>
              </a:rPr>
              <a:t>SUPPORT </a:t>
            </a:r>
            <a:r>
              <a:rPr b="1" lang="en-US" sz="2400" spc="-7" strike="noStrike" u="heavy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Cambria"/>
              </a:rPr>
              <a:t>OF</a:t>
            </a:r>
            <a:r>
              <a:rPr b="1" lang="en-US" sz="2400" spc="-41" strike="noStrike" u="heavy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Cambria"/>
              </a:rPr>
              <a:t> </a:t>
            </a:r>
            <a:r>
              <a:rPr b="1" lang="en-US" sz="2400" spc="-15" strike="noStrike" u="heavy">
                <a:solidFill>
                  <a:srgbClr val="4f81bb"/>
                </a:solidFill>
                <a:uFill>
                  <a:solidFill>
                    <a:srgbClr val="4f81bb"/>
                  </a:solidFill>
                </a:uFill>
                <a:latin typeface="Cambria"/>
              </a:rPr>
              <a:t>SIGNALS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</a:t>
            </a:r>
            <a:r>
              <a:rPr b="0" lang="en-US" sz="2400" spc="3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36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</a:t>
            </a:r>
            <a:r>
              <a:rPr b="0" lang="en-US" sz="2400" spc="36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3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generated</a:t>
            </a:r>
            <a:r>
              <a:rPr b="0" lang="en-US" sz="2400" spc="3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400" spc="3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3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process,</a:t>
            </a:r>
            <a:r>
              <a:rPr b="0" lang="en-US" sz="2400" spc="36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3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kernel</a:t>
            </a:r>
            <a:r>
              <a:rPr b="0" lang="en-US" sz="2400" spc="36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will</a:t>
            </a:r>
            <a:r>
              <a:rPr b="0" lang="en-US" sz="2400" spc="36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set</a:t>
            </a:r>
            <a:r>
              <a:rPr b="0" lang="en-US" sz="2400" spc="3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36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corresponding</a:t>
            </a:r>
            <a:endParaRPr b="0" lang="en-IN" sz="2400" spc="-1" strike="noStrike">
              <a:latin typeface="Arial"/>
            </a:endParaRPr>
          </a:p>
          <a:p>
            <a:pPr marL="355680">
              <a:lnSpc>
                <a:spcPct val="100000"/>
              </a:lnSpc>
              <a:buNone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flag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table slot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recipient</a:t>
            </a:r>
            <a:r>
              <a:rPr b="0" lang="en-US" sz="2400" spc="-10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recipient 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asleep,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kernel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awaken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scheduling</a:t>
            </a:r>
            <a:r>
              <a:rPr b="0" lang="en-US" sz="2400" spc="-15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recipient 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kernel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will check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U-area that  contains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array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signal handling</a:t>
            </a:r>
            <a:r>
              <a:rPr b="0" lang="en-US" sz="2400" spc="-7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specifications.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array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entry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contains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zero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accept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</a:t>
            </a:r>
            <a:r>
              <a:rPr b="0" lang="en-US" sz="2400" spc="4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array</a:t>
            </a:r>
            <a:r>
              <a:rPr b="0" lang="en-US" sz="2400" spc="40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entry</a:t>
            </a:r>
            <a:r>
              <a:rPr b="0" lang="en-US" sz="2400" spc="40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contains</a:t>
            </a:r>
            <a:r>
              <a:rPr b="0" lang="en-US" sz="2400" spc="39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4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400" spc="39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value,</a:t>
            </a:r>
            <a:r>
              <a:rPr b="0" lang="en-US" sz="2400" spc="4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40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</a:t>
            </a:r>
            <a:r>
              <a:rPr b="0" lang="en-US" sz="2400" spc="39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</a:t>
            </a:r>
            <a:r>
              <a:rPr b="0" lang="en-US" sz="2400" spc="4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</a:t>
            </a:r>
            <a:r>
              <a:rPr b="0" lang="en-US" sz="2400" spc="4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40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</a:t>
            </a:r>
            <a:r>
              <a:rPr b="0" lang="en-US" sz="2400" spc="40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and</a:t>
            </a:r>
            <a:r>
              <a:rPr b="0" lang="en-US" sz="2400" spc="4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kernel</a:t>
            </a:r>
            <a:r>
              <a:rPr b="0" lang="en-US" sz="2400" spc="39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will</a:t>
            </a:r>
            <a:endParaRPr b="0" lang="en-IN" sz="2400" spc="-1" strike="noStrike">
              <a:latin typeface="Arial"/>
            </a:endParaRPr>
          </a:p>
          <a:p>
            <a:pPr marL="355680">
              <a:lnSpc>
                <a:spcPct val="100000"/>
              </a:lnSpc>
              <a:buNone/>
              <a:tabLst>
                <a:tab algn="l" pos="35568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discard</a:t>
            </a:r>
            <a:r>
              <a:rPr b="0" lang="en-US" sz="2400" spc="-10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array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entry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contains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other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pointer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user-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defined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handler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routine.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14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5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F1394972-B438-4003-9C9F-9DDC811C17BE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18" name="object 4"/>
          <p:cNvSpPr/>
          <p:nvPr/>
        </p:nvSpPr>
        <p:spPr>
          <a:xfrm>
            <a:off x="387000" y="462960"/>
            <a:ext cx="11161800" cy="48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44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prototype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API</a:t>
            </a:r>
            <a:r>
              <a:rPr b="0" lang="en-US" sz="2400" spc="-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is: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void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(*signal(int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sig_no, void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(*handler)(int)))(int);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200000"/>
              </a:lnSpc>
              <a:buNone/>
              <a:tabLst>
                <a:tab algn="l" pos="257364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Returns: previous disposition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signal (see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following)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OK, SIG_ERR 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error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formal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API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are: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sig_no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identifier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like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SIGINT or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SIGTERM.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spcBef>
                <a:spcPts val="6"/>
              </a:spcBef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handler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pointer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user-defined signal handler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ftr" idx="16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7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FE56060E-0B4F-4952-BCF3-9D5B4E0CA93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23" name="object 4"/>
          <p:cNvSpPr/>
          <p:nvPr/>
        </p:nvSpPr>
        <p:spPr>
          <a:xfrm>
            <a:off x="387000" y="462960"/>
            <a:ext cx="8357040" cy="44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44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prototype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API</a:t>
            </a:r>
            <a:r>
              <a:rPr b="0" lang="en-US" sz="2400" spc="-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is: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void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(*signal(int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sig_no, void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(*handler)(int)))(int);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573640"/>
              </a:tabLst>
            </a:pP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sig_no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just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name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handler</a:t>
            </a:r>
            <a:r>
              <a:rPr b="0" lang="en-US" sz="2400" spc="3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endParaRPr b="0" lang="en-IN" sz="2400" spc="-1" strike="noStrike">
              <a:latin typeface="Arial"/>
            </a:endParaRPr>
          </a:p>
          <a:p>
            <a:pPr marL="799560" indent="-457920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  <a:tabLst>
                <a:tab algn="l" pos="80028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constant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SIG_IGN,</a:t>
            </a:r>
            <a:endParaRPr b="0" lang="en-IN" sz="2400" spc="-1" strike="noStrike">
              <a:latin typeface="Arial"/>
            </a:endParaRPr>
          </a:p>
          <a:p>
            <a:pPr marL="799560" indent="-457920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  <a:tabLst>
                <a:tab algn="l" pos="80028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constant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SIG_DFL,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or</a:t>
            </a:r>
            <a:endParaRPr b="0" lang="en-IN" sz="2400" spc="-1" strike="noStrike">
              <a:latin typeface="Arial"/>
            </a:endParaRPr>
          </a:p>
          <a:p>
            <a:pPr marL="799560" indent="-45792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StarSymbol"/>
              <a:buAutoNum type="alphaLcParenR"/>
              <a:tabLst>
                <a:tab algn="l" pos="799560"/>
                <a:tab algn="l" pos="80028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address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called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</a:t>
            </a:r>
            <a:r>
              <a:rPr b="0" lang="en-US" sz="2400" spc="-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occurs.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18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9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BEC3B502-5EA4-44FC-9FC2-3B84890220E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28" name="object 4"/>
          <p:cNvSpPr/>
          <p:nvPr/>
        </p:nvSpPr>
        <p:spPr>
          <a:xfrm>
            <a:off x="387000" y="462960"/>
            <a:ext cx="11283120" cy="55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44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prototype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API</a:t>
            </a:r>
            <a:r>
              <a:rPr b="0" lang="en-US" sz="2400" spc="-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is: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void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(*signal(int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sig_no, void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(*handler)(int)))(int);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573640"/>
              </a:tabLst>
            </a:pP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specify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SIG_IGN,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telling 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(Remember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cannot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two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SIGKILL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SIGSTOP)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573640"/>
              </a:tabLst>
            </a:pP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specify SIG_DFL,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setting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associated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with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its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buNone/>
              <a:tabLst>
                <a:tab algn="l" pos="2573640"/>
              </a:tabLst>
            </a:pPr>
            <a:endParaRPr b="0" lang="en-IN" sz="2400" spc="-1" strike="noStrike">
              <a:latin typeface="Arial"/>
            </a:endParaRPr>
          </a:p>
          <a:p>
            <a:pPr marL="342360" algn="just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specify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address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called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when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occurs,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arranging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"catch"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either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handler 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  signal-catching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20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21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E52740D5-CF15-49AC-8ADF-6534743BC0D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33" name="object 4"/>
          <p:cNvSpPr/>
          <p:nvPr/>
        </p:nvSpPr>
        <p:spPr>
          <a:xfrm>
            <a:off x="387000" y="462960"/>
            <a:ext cx="11285640" cy="55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44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prototype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API</a:t>
            </a:r>
            <a:r>
              <a:rPr b="0" lang="en-US" sz="2400" spc="-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is: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4107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void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(*signal(int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sig_no, void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(*handler)(int)))(int);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573640"/>
              </a:tabLst>
            </a:pP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prototype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signal function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states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requires two</a:t>
            </a:r>
            <a:r>
              <a:rPr b="0" lang="en-US" sz="24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arguments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buNone/>
              <a:tabLst>
                <a:tab algn="l" pos="25736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pointer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returns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nothing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(void).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spcBef>
                <a:spcPts val="1919"/>
              </a:spcBef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signal function's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first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sig_no,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integer.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spcBef>
                <a:spcPts val="1919"/>
              </a:spcBef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</a:t>
            </a:r>
            <a:r>
              <a:rPr b="0" lang="en-US" sz="2400" spc="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</a:t>
            </a:r>
            <a:r>
              <a:rPr b="0" lang="en-US" sz="24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pointer</a:t>
            </a:r>
            <a:r>
              <a:rPr b="0" lang="en-US" sz="24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</a:t>
            </a:r>
            <a:r>
              <a:rPr b="0" lang="en-US" sz="2400" spc="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that</a:t>
            </a:r>
            <a:r>
              <a:rPr b="0" lang="en-US" sz="2400" spc="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takes</a:t>
            </a:r>
            <a:r>
              <a:rPr b="0" lang="en-US" sz="2400" spc="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single</a:t>
            </a:r>
            <a:r>
              <a:rPr b="0" lang="en-US" sz="2400" spc="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integer</a:t>
            </a:r>
            <a:r>
              <a:rPr b="0" lang="en-US" sz="2400" spc="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</a:t>
            </a:r>
            <a:r>
              <a:rPr b="0" lang="en-US" sz="2400" spc="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and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spcBef>
                <a:spcPts val="6"/>
              </a:spcBef>
              <a:buNone/>
              <a:tabLst>
                <a:tab algn="l" pos="257364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nothing.</a:t>
            </a:r>
            <a:endParaRPr b="0" lang="en-IN" sz="2400" spc="-1" strike="noStrike">
              <a:latin typeface="Arial"/>
            </a:endParaRPr>
          </a:p>
          <a:p>
            <a:pPr marL="342360">
              <a:lnSpc>
                <a:spcPct val="100000"/>
              </a:lnSpc>
              <a:spcBef>
                <a:spcPts val="2160"/>
              </a:spcBef>
              <a:buNone/>
              <a:tabLst>
                <a:tab algn="l" pos="2573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whose address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returned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of signal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takes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single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integer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(the final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(int)).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22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23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BB617719-E1BF-4AD2-B1E2-ADB9DEB8DE5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387000" y="405360"/>
            <a:ext cx="10952640" cy="58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9120" bIns="0" anchor="t">
            <a:spAutoFit/>
          </a:bodyPr>
          <a:p>
            <a:pPr marL="12600">
              <a:lnSpc>
                <a:spcPct val="100000"/>
              </a:lnSpc>
              <a:spcBef>
                <a:spcPts val="544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14480">
              <a:lnSpc>
                <a:spcPct val="100000"/>
              </a:lnSpc>
              <a:spcBef>
                <a:spcPts val="391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function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prototype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API</a:t>
            </a:r>
            <a:r>
              <a:rPr b="0" lang="en-US" sz="2400" spc="-7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is:</a:t>
            </a:r>
            <a:endParaRPr b="0" lang="en-IN" sz="2400" spc="-1" strike="noStrike">
              <a:latin typeface="Arial"/>
            </a:endParaRPr>
          </a:p>
          <a:p>
            <a:pPr marL="8064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80640">
              <a:lnSpc>
                <a:spcPct val="100000"/>
              </a:lnSpc>
              <a:buNone/>
              <a:tabLst>
                <a:tab algn="l" pos="224424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void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(*signal(int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sig_no, void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(*handler)(int)))(int);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ts val="5281"/>
              </a:lnSpc>
              <a:spcBef>
                <a:spcPts val="99"/>
              </a:spcBef>
              <a:buNone/>
              <a:tabLst>
                <a:tab algn="l" pos="2244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examine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system's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header &lt;signal.h&gt;,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probably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find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declarations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form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#define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SIG_ERR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(void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(*)())-1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ts val="2305"/>
              </a:lnSpc>
              <a:buNone/>
              <a:tabLst>
                <a:tab algn="l" pos="224424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#define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SIG_DFL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(void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(*)())0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224424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#define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SIG_IGN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(void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(*)())1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2244240"/>
              </a:tabLst>
            </a:pP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  <a:tabLst>
                <a:tab algn="l" pos="22442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constants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place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"pointer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function that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takes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integer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and returns nothing,"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 argument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 return value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from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6"/>
              </a:spcBef>
              <a:buNone/>
              <a:tabLst>
                <a:tab algn="l" pos="22442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three values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constants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need not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-1, 0,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</a:t>
            </a:r>
            <a:r>
              <a:rPr b="0" lang="en-US" sz="2400" spc="6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1.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  <a:tabLst>
                <a:tab algn="l" pos="224424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They 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three values that can never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address of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declarable</a:t>
            </a:r>
            <a:r>
              <a:rPr b="0" lang="en-US" sz="2400" spc="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24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25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9142AF8B-3B01-4939-A021-CC244689D85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43" name="object 4"/>
          <p:cNvSpPr/>
          <p:nvPr/>
        </p:nvSpPr>
        <p:spPr>
          <a:xfrm>
            <a:off x="387000" y="462960"/>
            <a:ext cx="11209320" cy="18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ts val="3251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270000" algn="just">
              <a:lnSpc>
                <a:spcPts val="2769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10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following</a:t>
            </a:r>
            <a:r>
              <a:rPr b="0" lang="en-US" sz="2400" spc="1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example</a:t>
            </a:r>
            <a:r>
              <a:rPr b="0" lang="en-US" sz="2400" spc="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attempts</a:t>
            </a:r>
            <a:r>
              <a:rPr b="0" lang="en-US" sz="2400" spc="8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1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catch</a:t>
            </a:r>
            <a:r>
              <a:rPr b="0" lang="en-US" sz="2400" spc="9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10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SIGTERM</a:t>
            </a:r>
            <a:r>
              <a:rPr b="0" lang="en-US" sz="2400" spc="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</a:t>
            </a:r>
            <a:r>
              <a:rPr b="0" lang="en-US" sz="2400" spc="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ignores</a:t>
            </a:r>
            <a:r>
              <a:rPr b="0" lang="en-US" sz="2400" spc="10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10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SIGINT</a:t>
            </a:r>
            <a:r>
              <a:rPr b="0" lang="en-US" sz="2400" spc="1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</a:t>
            </a:r>
            <a:endParaRPr b="0" lang="en-IN" sz="2400" spc="-1" strike="noStrike">
              <a:latin typeface="Arial"/>
            </a:endParaRPr>
          </a:p>
          <a:p>
            <a:pPr marL="270000"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accepts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SIGSEGV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 The pause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suspends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until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interrupted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 corresponding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handler does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return:</a:t>
            </a: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144" name="object 5"/>
          <p:cNvGraphicFramePr/>
          <p:nvPr/>
        </p:nvGraphicFramePr>
        <p:xfrm>
          <a:off x="453960" y="2397960"/>
          <a:ext cx="11039760" cy="3053520"/>
        </p:xfrm>
        <a:graphic>
          <a:graphicData uri="http://schemas.openxmlformats.org/drawingml/2006/table">
            <a:tbl>
              <a:tblPr/>
              <a:tblGrid>
                <a:gridCol w="5479920"/>
                <a:gridCol w="5559840"/>
              </a:tblGrid>
              <a:tr h="3053880">
                <a:tc>
                  <a:txBody>
                    <a:bodyPr lIns="0" rIns="0" tIns="259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  <a:r>
                        <a:rPr b="1" lang="en-IN" sz="2400" spc="9" strike="noStrike">
                          <a:solidFill>
                            <a:srgbClr val="ffffff"/>
                          </a:solidFill>
                          <a:latin typeface="Calibri"/>
                        </a:rPr>
                        <a:t>&lt;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io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-32" strike="noStrike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m.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h&gt;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#include&lt;signal.h&gt;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/*signal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handler</a:t>
                      </a:r>
                      <a:r>
                        <a:rPr b="1" lang="en-IN" sz="2400" spc="-6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function*/  void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catch_sig(int</a:t>
                      </a:r>
                      <a:r>
                        <a:rPr b="1" lang="en-IN" sz="2400" spc="-80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sig_num)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16020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22860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(sig_num,catch_sig);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16020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cout&lt;&lt;”catch_sig:”&lt;&lt;sig_num&lt;&lt;endl;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5920" bIns="0" anchor="t">
                      <a:noAutofit/>
                    </a:bodyPr>
                    <a:p>
                      <a:pPr marL="16056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main()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/*main</a:t>
                      </a:r>
                      <a:r>
                        <a:rPr b="1" lang="en-IN" sz="2400" spc="1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function*/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,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  <a:r>
                        <a:rPr b="1" lang="en-IN" sz="2400" spc="-32" strike="noStrike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  <a:r>
                        <a:rPr b="1" lang="en-IN" sz="24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ch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_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); 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signal(SIGINT,SIG_IGN);  signal(SIGSEGV,SIG_DFL);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pause( );/*wait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for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 signal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interruption*/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</a:tbl>
          </a:graphicData>
        </a:graphic>
      </p:graphicFrame>
      <p:sp>
        <p:nvSpPr>
          <p:cNvPr id="145" name="object 6"/>
          <p:cNvSpPr/>
          <p:nvPr/>
        </p:nvSpPr>
        <p:spPr>
          <a:xfrm>
            <a:off x="808200" y="5592960"/>
            <a:ext cx="97844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2600"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</a:rPr>
              <a:t>The SIG_IGN specifies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</a:rPr>
              <a:t>be ignored, which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means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</a:rPr>
              <a:t>that if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</a:rPr>
              <a:t>generated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1800" spc="18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</a:rPr>
              <a:t>process,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0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will 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discarded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without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any interruption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ftr" idx="26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27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D0DD2AFB-7512-44A1-B0DE-A6FF705F4ED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387000" y="462960"/>
            <a:ext cx="127908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</p:txBody>
      </p:sp>
      <p:graphicFrame>
        <p:nvGraphicFramePr>
          <p:cNvPr id="151" name="object 5"/>
          <p:cNvGraphicFramePr/>
          <p:nvPr/>
        </p:nvGraphicFramePr>
        <p:xfrm>
          <a:off x="393480" y="1115280"/>
          <a:ext cx="11039760" cy="4845960"/>
        </p:xfrm>
        <a:graphic>
          <a:graphicData uri="http://schemas.openxmlformats.org/drawingml/2006/table">
            <a:tbl>
              <a:tblPr/>
              <a:tblGrid>
                <a:gridCol w="5479920"/>
                <a:gridCol w="5559840"/>
              </a:tblGrid>
              <a:tr h="4846320">
                <a:tc>
                  <a:txBody>
                    <a:bodyPr lIns="0" rIns="0" tIns="259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#include&lt;stdio.h&gt;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  <a:r>
                        <a:rPr b="1" lang="en-IN" sz="2400" spc="9" strike="noStrike">
                          <a:solidFill>
                            <a:srgbClr val="ffffff"/>
                          </a:solidFill>
                          <a:latin typeface="Calibri"/>
                        </a:rPr>
                        <a:t>&lt;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.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h&gt;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/*signal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handler function*/ 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static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void sig_usr(int</a:t>
                      </a:r>
                      <a:r>
                        <a:rPr b="1" lang="en-IN" sz="2400" spc="-5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signo)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arg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is signal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  <a:r>
                        <a:rPr b="1" lang="en-IN" sz="2400" spc="-3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501120" indent="-410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(signo ==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SIGUSR1)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printf("received</a:t>
                      </a:r>
                      <a:r>
                        <a:rPr b="1" lang="en-IN" sz="2400" spc="-60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SIGUSR1\n");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501120" indent="-410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else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(signo ==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SIGUSR2)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printf("received</a:t>
                      </a:r>
                      <a:r>
                        <a:rPr b="1" lang="en-IN" sz="24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SIGUSR2\n");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 indent="-410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else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432360" indent="-410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printf("received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 %d\n",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signo);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 indent="-4100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5920" bIns="0" anchor="t">
                      <a:noAutofit/>
                    </a:bodyPr>
                    <a:p>
                      <a:pPr marL="9216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  <a:tabLst>
                          <a:tab algn="l" pos="570240"/>
                        </a:tabLst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main(void)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>
                        <a:lnSpc>
                          <a:spcPct val="100000"/>
                        </a:lnSpc>
                        <a:buNone/>
                        <a:tabLst>
                          <a:tab algn="l" pos="57024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501480" indent="-4100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(signal(SIGUSR1,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sig_usr)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SIG_ERR)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perror("can't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catch</a:t>
                      </a:r>
                      <a:r>
                        <a:rPr b="1" lang="en-IN" sz="24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SIGUSR1");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433080" indent="-3416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(signal(SIGUSR2,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sig_usr)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SIG_ERR)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perror("can't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catch</a:t>
                      </a:r>
                      <a:r>
                        <a:rPr b="1" lang="en-IN" sz="2400" spc="-4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SIGUSR2");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3416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for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 ; ;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433080" indent="-3416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pause();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3416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28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55" name="object 11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250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387000" y="462960"/>
            <a:ext cx="127908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7" name="object 5"/>
          <p:cNvSpPr/>
          <p:nvPr/>
        </p:nvSpPr>
        <p:spPr>
          <a:xfrm>
            <a:off x="3262320" y="1261080"/>
            <a:ext cx="623520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start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background</a:t>
            </a:r>
            <a:endParaRPr b="0" lang="en-IN" sz="2400" spc="-1" strike="noStrike">
              <a:latin typeface="Arial"/>
            </a:endParaRPr>
          </a:p>
          <a:p>
            <a:pPr marL="68760" indent="-2016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job-control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shell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prints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job number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ID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SIGUSR1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8" name="object 6"/>
          <p:cNvSpPr/>
          <p:nvPr/>
        </p:nvSpPr>
        <p:spPr>
          <a:xfrm>
            <a:off x="3387240" y="2724480"/>
            <a:ext cx="19897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</a:t>
            </a:r>
            <a:r>
              <a:rPr b="0" lang="en-US" sz="2400" spc="-8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SIGUSR2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9" name="object 7"/>
          <p:cNvSpPr/>
          <p:nvPr/>
        </p:nvSpPr>
        <p:spPr>
          <a:xfrm>
            <a:off x="838800" y="1261080"/>
            <a:ext cx="2210760" cy="25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$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./a.out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&amp;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[1] 7216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$ kill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-USR1 7216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received</a:t>
            </a:r>
            <a:r>
              <a:rPr b="0" lang="en-US" sz="2400" spc="-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SIGUSR1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$ kill -USR2</a:t>
            </a:r>
            <a:r>
              <a:rPr b="0" lang="en-US" sz="2400" spc="-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7216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received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SIGUSR2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$ kill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7216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0" name="object 8"/>
          <p:cNvSpPr/>
          <p:nvPr/>
        </p:nvSpPr>
        <p:spPr>
          <a:xfrm>
            <a:off x="3458880" y="3456720"/>
            <a:ext cx="26607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now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</a:t>
            </a:r>
            <a:r>
              <a:rPr b="0" lang="en-US" sz="2400" spc="-6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SIGTERM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1" name="object 9"/>
          <p:cNvSpPr/>
          <p:nvPr/>
        </p:nvSpPr>
        <p:spPr>
          <a:xfrm>
            <a:off x="838800" y="3822480"/>
            <a:ext cx="10809360" cy="14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  <a:tabLst>
                <a:tab algn="l" pos="211896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[1]+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Terminated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./a.out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118960"/>
              </a:tabLst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21189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SIGTERM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terminated,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since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doesn't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catch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termination.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2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30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A44E8545-FBDF-4965-815B-6A10151B9E2E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66" name="object 4"/>
          <p:cNvSpPr/>
          <p:nvPr/>
        </p:nvSpPr>
        <p:spPr>
          <a:xfrm>
            <a:off x="387000" y="254160"/>
            <a:ext cx="8502840" cy="65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1040" bIns="0" anchor="t">
            <a:spAutoFit/>
          </a:bodyPr>
          <a:p>
            <a:pPr marL="12600">
              <a:lnSpc>
                <a:spcPct val="100000"/>
              </a:lnSpc>
              <a:spcBef>
                <a:spcPts val="1740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409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kill and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raise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Functions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2160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kill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sends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group of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processes.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raise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allows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itself.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919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0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  <a:tabLst>
                <a:tab algn="l" pos="1751400"/>
                <a:tab algn="l" pos="2795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 kill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d_t pi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1" lang="en-US" sz="24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signo); 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raise(int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signo);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58000"/>
              </a:lnSpc>
              <a:spcBef>
                <a:spcPts val="6"/>
              </a:spcBef>
              <a:buNone/>
              <a:tabLst>
                <a:tab algn="l" pos="1751400"/>
                <a:tab algn="l" pos="2795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Both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0 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OK,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–1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400" spc="-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error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</a:t>
            </a:r>
            <a:endParaRPr b="0" lang="en-IN" sz="2400" spc="-1" strike="noStrike">
              <a:latin typeface="Arial"/>
            </a:endParaRPr>
          </a:p>
          <a:p>
            <a:pPr marL="710640">
              <a:lnSpc>
                <a:spcPct val="100000"/>
              </a:lnSpc>
              <a:buNone/>
              <a:tabLst>
                <a:tab algn="l" pos="1751400"/>
                <a:tab algn="l" pos="279540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raise(signo);</a:t>
            </a:r>
            <a:endParaRPr b="0" lang="en-IN" sz="2400" spc="-1" strike="noStrike">
              <a:latin typeface="Arial"/>
            </a:endParaRPr>
          </a:p>
          <a:p>
            <a:pPr marL="643320" indent="-47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equivalent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  kill(getpid(),</a:t>
            </a:r>
            <a:r>
              <a:rPr b="0" lang="en-US" sz="2400" spc="-8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signo);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object 2"/>
          <p:cNvSpPr/>
          <p:nvPr/>
        </p:nvSpPr>
        <p:spPr>
          <a:xfrm>
            <a:off x="11931480" y="6365880"/>
            <a:ext cx="257400" cy="360"/>
          </a:xfrm>
          <a:custGeom>
            <a:avLst/>
            <a:gdLst/>
            <a:ahLst/>
            <a:rect l="l" t="t" r="r" b="b"/>
            <a:pathLst>
              <a:path w="257809" h="0">
                <a:moveTo>
                  <a:pt x="0" y="0"/>
                </a:moveTo>
                <a:lnTo>
                  <a:pt x="257555" y="0"/>
                </a:lnTo>
              </a:path>
            </a:pathLst>
          </a:custGeom>
          <a:noFill/>
          <a:ln w="64007">
            <a:solidFill>
              <a:srgbClr val="e3831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object 3"/>
          <p:cNvSpPr/>
          <p:nvPr/>
        </p:nvSpPr>
        <p:spPr>
          <a:xfrm>
            <a:off x="0" y="6365880"/>
            <a:ext cx="565560" cy="360"/>
          </a:xfrm>
          <a:custGeom>
            <a:avLst/>
            <a:gdLst/>
            <a:ahLst/>
            <a:rect l="l" t="t" r="r" b="b"/>
            <a:pathLst>
              <a:path w="565785" h="0">
                <a:moveTo>
                  <a:pt x="0" y="0"/>
                </a:moveTo>
                <a:lnTo>
                  <a:pt x="565480" y="0"/>
                </a:lnTo>
              </a:path>
            </a:pathLst>
          </a:custGeom>
          <a:noFill/>
          <a:ln w="64007">
            <a:solidFill>
              <a:srgbClr val="e3831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object 5"/>
          <p:cNvSpPr/>
          <p:nvPr/>
        </p:nvSpPr>
        <p:spPr>
          <a:xfrm>
            <a:off x="387000" y="254160"/>
            <a:ext cx="7904880" cy="25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1040" bIns="0" anchor="t">
            <a:spAutoFit/>
          </a:bodyPr>
          <a:p>
            <a:pPr marL="12600">
              <a:lnSpc>
                <a:spcPct val="100000"/>
              </a:lnSpc>
              <a:spcBef>
                <a:spcPts val="1740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409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kill and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raise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Functions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919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 &lt;signal.h&gt;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  <a:tabLst>
                <a:tab algn="l" pos="279540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kill(pid_t</a:t>
            </a:r>
            <a:r>
              <a:rPr b="1" lang="en-US" sz="2400" spc="3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pid,</a:t>
            </a:r>
            <a:r>
              <a:rPr b="1" lang="en-US" sz="24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signo);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  <a:tabLst>
                <a:tab algn="l" pos="279540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There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four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different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conditions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pid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9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kill.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1" name="object 6"/>
          <p:cNvSpPr/>
          <p:nvPr/>
        </p:nvSpPr>
        <p:spPr>
          <a:xfrm>
            <a:off x="559080" y="2833200"/>
            <a:ext cx="11378160" cy="360"/>
          </a:xfrm>
          <a:custGeom>
            <a:avLst/>
            <a:gdLst/>
            <a:ahLst/>
            <a:rect l="l" t="t" r="r" b="b"/>
            <a:pathLst>
              <a:path w="11378565" h="0">
                <a:moveTo>
                  <a:pt x="0" y="0"/>
                </a:moveTo>
                <a:lnTo>
                  <a:pt x="11378488" y="0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object 7"/>
          <p:cNvSpPr/>
          <p:nvPr/>
        </p:nvSpPr>
        <p:spPr>
          <a:xfrm>
            <a:off x="559080" y="6521400"/>
            <a:ext cx="11378160" cy="360"/>
          </a:xfrm>
          <a:custGeom>
            <a:avLst/>
            <a:gdLst/>
            <a:ahLst/>
            <a:rect l="l" t="t" r="r" b="b"/>
            <a:pathLst>
              <a:path w="11378565" h="0">
                <a:moveTo>
                  <a:pt x="0" y="0"/>
                </a:moveTo>
                <a:lnTo>
                  <a:pt x="11378488" y="0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73" name="object 8"/>
          <p:cNvGraphicFramePr/>
          <p:nvPr/>
        </p:nvGraphicFramePr>
        <p:xfrm>
          <a:off x="559080" y="2833200"/>
          <a:ext cx="11365560" cy="3687840"/>
        </p:xfrm>
        <a:graphic>
          <a:graphicData uri="http://schemas.openxmlformats.org/drawingml/2006/table">
            <a:tbl>
              <a:tblPr/>
              <a:tblGrid>
                <a:gridCol w="1437480"/>
                <a:gridCol w="9928080"/>
              </a:tblGrid>
              <a:tr h="396000">
                <a:tc>
                  <a:txBody>
                    <a:bodyPr lIns="0" rIns="0" tIns="29520" bIns="0" anchor="t">
                      <a:noAutofit/>
                    </a:bodyPr>
                    <a:p>
                      <a:pPr marL="237960">
                        <a:lnSpc>
                          <a:spcPct val="100000"/>
                        </a:lnSpc>
                        <a:spcBef>
                          <a:spcPts val="235"/>
                        </a:spcBef>
                        <a:buNone/>
                      </a:pP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Pid</a:t>
                      </a:r>
                      <a:r>
                        <a:rPr b="1" lang="en-IN" sz="2000" spc="-3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56520" algn="ctr">
                        <a:lnSpc>
                          <a:spcPct val="100000"/>
                        </a:lnSpc>
                        <a:spcBef>
                          <a:spcPts val="235"/>
                        </a:spcBef>
                        <a:buNone/>
                      </a:pP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  <a:tr h="457200"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Pid &gt;</a:t>
                      </a:r>
                      <a:r>
                        <a:rPr b="0" lang="en-IN" sz="2400" spc="-3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 signal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sent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whose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 is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pid.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</a:tr>
              <a:tr h="1188720"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Pid==0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 signal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sent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all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processes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whose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group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 equals the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 group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of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sender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and </a:t>
                      </a:r>
                      <a:r>
                        <a:rPr b="0" lang="en-IN" sz="24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for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which the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sender has permission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</a:tr>
              <a:tr h="822960"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Pid&lt;0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 signal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sent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all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processes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whose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group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 equals the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absolute  value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of pid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and </a:t>
                      </a:r>
                      <a:r>
                        <a:rPr b="0" lang="en-IN" sz="24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for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which the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sender has permission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</a:tr>
              <a:tr h="822960"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Pid==-1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solidFill>
                      <a:srgbClr val="f9ece7"/>
                    </a:solidFill>
                  </a:tcPr>
                </a:tc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The signal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is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sent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all </a:t>
                      </a:r>
                      <a:r>
                        <a:rPr b="0" lang="en-IN" sz="24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processes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on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400" spc="-26" strike="noStrike">
                          <a:solidFill>
                            <a:srgbClr val="000000"/>
                          </a:solidFill>
                          <a:latin typeface="Calibri"/>
                        </a:rPr>
                        <a:t>system </a:t>
                      </a:r>
                      <a:r>
                        <a:rPr b="0" lang="en-IN" sz="2400" spc="-21" strike="noStrike">
                          <a:solidFill>
                            <a:srgbClr val="000000"/>
                          </a:solidFill>
                          <a:latin typeface="Calibri"/>
                        </a:rPr>
                        <a:t>for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which the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sender has  permission </a:t>
                      </a:r>
                      <a:r>
                        <a:rPr b="0" lang="en-IN" sz="24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send </a:t>
                      </a:r>
                      <a:r>
                        <a:rPr b="0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b="0" lang="en-IN" sz="2400" spc="-32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4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solidFill>
                      <a:srgbClr val="f9ece7"/>
                    </a:solidFill>
                  </a:tcPr>
                </a:tc>
              </a:tr>
            </a:tbl>
          </a:graphicData>
        </a:graphic>
      </p:graphicFrame>
      <p:sp>
        <p:nvSpPr>
          <p:cNvPr id="174" name="PlaceHolder 2"/>
          <p:cNvSpPr>
            <a:spLocks noGrp="1"/>
          </p:cNvSpPr>
          <p:nvPr>
            <p:ph type="ftr" idx="31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32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E461BB55-4D7A-4C08-A8B0-45A39A29BFF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object 2"/>
          <p:cNvSpPr/>
          <p:nvPr/>
        </p:nvSpPr>
        <p:spPr>
          <a:xfrm>
            <a:off x="11500200" y="6365880"/>
            <a:ext cx="688680" cy="360"/>
          </a:xfrm>
          <a:custGeom>
            <a:avLst/>
            <a:gdLst/>
            <a:ahLst/>
            <a:rect l="l" t="t" r="r" b="b"/>
            <a:pathLst>
              <a:path w="688975" h="0">
                <a:moveTo>
                  <a:pt x="0" y="0"/>
                </a:moveTo>
                <a:lnTo>
                  <a:pt x="688721" y="0"/>
                </a:lnTo>
              </a:path>
            </a:pathLst>
          </a:custGeom>
          <a:noFill/>
          <a:ln w="64007">
            <a:solidFill>
              <a:srgbClr val="e3831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object 3"/>
          <p:cNvSpPr/>
          <p:nvPr/>
        </p:nvSpPr>
        <p:spPr>
          <a:xfrm>
            <a:off x="0" y="6365880"/>
            <a:ext cx="460080" cy="360"/>
          </a:xfrm>
          <a:custGeom>
            <a:avLst/>
            <a:gdLst/>
            <a:ahLst/>
            <a:rect l="l" t="t" r="r" b="b"/>
            <a:pathLst>
              <a:path w="460375" h="0">
                <a:moveTo>
                  <a:pt x="0" y="0"/>
                </a:moveTo>
                <a:lnTo>
                  <a:pt x="460375" y="0"/>
                </a:lnTo>
              </a:path>
            </a:pathLst>
          </a:custGeom>
          <a:noFill/>
          <a:ln w="64007">
            <a:solidFill>
              <a:srgbClr val="e3831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object 7"/>
          <p:cNvSpPr/>
          <p:nvPr/>
        </p:nvSpPr>
        <p:spPr>
          <a:xfrm>
            <a:off x="11500200" y="997200"/>
            <a:ext cx="360" cy="2767680"/>
          </a:xfrm>
          <a:custGeom>
            <a:avLst/>
            <a:gdLst/>
            <a:ahLst/>
            <a:rect l="l" t="t" r="r" b="b"/>
            <a:pathLst>
              <a:path w="0" h="2767965">
                <a:moveTo>
                  <a:pt x="0" y="0"/>
                </a:moveTo>
                <a:lnTo>
                  <a:pt x="0" y="2767711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object 8"/>
          <p:cNvSpPr/>
          <p:nvPr/>
        </p:nvSpPr>
        <p:spPr>
          <a:xfrm>
            <a:off x="453960" y="1003680"/>
            <a:ext cx="11052360" cy="360"/>
          </a:xfrm>
          <a:custGeom>
            <a:avLst/>
            <a:gdLst/>
            <a:ahLst/>
            <a:rect l="l" t="t" r="r" b="b"/>
            <a:pathLst>
              <a:path w="11052810" h="0">
                <a:moveTo>
                  <a:pt x="0" y="0"/>
                </a:moveTo>
                <a:lnTo>
                  <a:pt x="11052683" y="0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object 11"/>
          <p:cNvSpPr/>
          <p:nvPr/>
        </p:nvSpPr>
        <p:spPr>
          <a:xfrm>
            <a:off x="11500200" y="3768120"/>
            <a:ext cx="360" cy="2767680"/>
          </a:xfrm>
          <a:custGeom>
            <a:avLst/>
            <a:gdLst/>
            <a:ahLst/>
            <a:rect l="l" t="t" r="r" b="b"/>
            <a:pathLst>
              <a:path w="0" h="2767965">
                <a:moveTo>
                  <a:pt x="0" y="0"/>
                </a:moveTo>
                <a:lnTo>
                  <a:pt x="0" y="2767685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object 13"/>
          <p:cNvSpPr/>
          <p:nvPr/>
        </p:nvSpPr>
        <p:spPr>
          <a:xfrm>
            <a:off x="453960" y="6516720"/>
            <a:ext cx="11052360" cy="360"/>
          </a:xfrm>
          <a:custGeom>
            <a:avLst/>
            <a:gdLst/>
            <a:ahLst/>
            <a:rect l="l" t="t" r="r" b="b"/>
            <a:pathLst>
              <a:path w="11052810" h="0">
                <a:moveTo>
                  <a:pt x="0" y="0"/>
                </a:moveTo>
                <a:lnTo>
                  <a:pt x="11052683" y="0"/>
                </a:lnTo>
              </a:path>
            </a:pathLst>
          </a:custGeom>
          <a:noFill/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PlaceHolder 2"/>
          <p:cNvSpPr>
            <a:spLocks noGrp="1"/>
          </p:cNvSpPr>
          <p:nvPr>
            <p:ph type="ftr" idx="33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34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D56FF85C-BA97-4304-9032-6AEF092C0D5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230040" y="685800"/>
            <a:ext cx="4798800" cy="585108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#include&lt;iostream.h&gt;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#include&lt;signal.h&gt;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Void handler(int);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int pid;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If((pid=fork())==0)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singal (SIGINT,SIG_DFL);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Sleep(2);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else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kill(pid, SIGINT);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sleep(5);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Cout&lt;“parent exiting”;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Void handler()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cout&lt;&lt;“signal received by child”;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35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36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4A1DF43E-E7FD-4BFB-8C26-3F6BC27A5AF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90" name="object 4"/>
          <p:cNvSpPr/>
          <p:nvPr/>
        </p:nvSpPr>
        <p:spPr>
          <a:xfrm>
            <a:off x="387000" y="254160"/>
            <a:ext cx="11015640" cy="60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1040" bIns="0" anchor="t">
            <a:spAutoFit/>
          </a:bodyPr>
          <a:p>
            <a:pPr marL="12600">
              <a:lnSpc>
                <a:spcPct val="100000"/>
              </a:lnSpc>
              <a:spcBef>
                <a:spcPts val="1740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409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alarm 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pause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Functions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2160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</a:t>
            </a:r>
            <a:r>
              <a:rPr b="0" lang="en-US" sz="2400" spc="25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</a:t>
            </a:r>
            <a:r>
              <a:rPr b="0" lang="en-US" sz="2400" spc="23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allows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</a:t>
            </a:r>
            <a:r>
              <a:rPr b="0" lang="en-US" sz="2400" spc="24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23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set</a:t>
            </a:r>
            <a:r>
              <a:rPr b="0" lang="en-US" sz="2400" spc="25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timer</a:t>
            </a:r>
            <a:r>
              <a:rPr b="0" lang="en-US" sz="2400" spc="25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expire</a:t>
            </a:r>
            <a:r>
              <a:rPr b="0" lang="en-US" sz="2400" spc="23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at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specified</a:t>
            </a:r>
            <a:r>
              <a:rPr b="0" lang="en-US" sz="2400" spc="25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time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</a:t>
            </a:r>
            <a:r>
              <a:rPr b="0" lang="en-US" sz="24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future.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the timer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expires,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SIGALRM 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generated.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or don't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catch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action 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terminate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925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&lt;unistd.h&gt;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unsigned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alarm(unsigned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seconds);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0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or number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 until previously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 value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number of clock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future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should  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generated.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ftr" idx="3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38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696A0827-E77D-4898-A7B3-548F997F08B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195" name="object 4"/>
          <p:cNvSpPr/>
          <p:nvPr/>
        </p:nvSpPr>
        <p:spPr>
          <a:xfrm>
            <a:off x="387000" y="333360"/>
            <a:ext cx="11016360" cy="57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marL="12600">
              <a:lnSpc>
                <a:spcPct val="100000"/>
              </a:lnSpc>
              <a:spcBef>
                <a:spcPts val="1111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876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alarm 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pause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Functions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321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&lt;unistd.h&gt;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unsigned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alarm(unsigned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seconds);</a:t>
            </a:r>
            <a:endParaRPr b="0" lang="en-IN" sz="2400" spc="-1" strike="noStrike">
              <a:latin typeface="Arial"/>
            </a:endParaRPr>
          </a:p>
          <a:p>
            <a:pPr marL="507960" indent="-343080" algn="just">
              <a:lnSpc>
                <a:spcPct val="100000"/>
              </a:lnSpc>
              <a:spcBef>
                <a:spcPts val="132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507960"/>
              </a:tabLst>
            </a:pP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If,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 alarm,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previously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registered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alarm clock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has not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yet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expired,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number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 left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clock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 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of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function.</a:t>
            </a:r>
            <a:endParaRPr b="0" lang="en-IN" sz="2400" spc="-1" strike="noStrike">
              <a:latin typeface="Arial"/>
            </a:endParaRPr>
          </a:p>
          <a:p>
            <a:pPr marL="507960" indent="-343080" algn="just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50796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previously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registered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 clock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replaced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new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value.</a:t>
            </a:r>
            <a:endParaRPr b="0" lang="en-IN" sz="2400" spc="-1" strike="noStrike">
              <a:latin typeface="Arial"/>
            </a:endParaRPr>
          </a:p>
          <a:p>
            <a:pPr marL="5079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50796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previously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registered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clock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has not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yet expired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if the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 value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0,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previous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 clock is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canceled.</a:t>
            </a:r>
            <a:endParaRPr b="0" lang="en-IN" sz="2400" spc="-1" strike="noStrike">
              <a:latin typeface="Arial"/>
            </a:endParaRPr>
          </a:p>
          <a:p>
            <a:pPr marL="5079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50796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number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left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previous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clock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still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returned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function.</a:t>
            </a:r>
            <a:endParaRPr b="0" lang="en-IN" sz="2400" spc="-1" strike="noStrike">
              <a:latin typeface="Arial"/>
            </a:endParaRPr>
          </a:p>
          <a:p>
            <a:pPr marL="5079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5079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Although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SIGALRM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terminate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most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processes  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 alarm clock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catch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</a:t>
            </a:r>
            <a:r>
              <a:rPr b="0" lang="en-US" sz="2400" spc="-9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762120" y="685800"/>
            <a:ext cx="10208880" cy="447948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#include&lt;iostream.h&gt;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#include&lt;signal.h&gt;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Using namespace std;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Void sleep(int 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alarm(i);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pause();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cout&lt;&lt;“amit is waiting”;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sleep(5);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Cout&lt;“amit finished waiting”;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Return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3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0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A3363DFF-DCBD-405B-B1C2-63BD7CBC74B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02" name="object 4"/>
          <p:cNvSpPr/>
          <p:nvPr/>
        </p:nvSpPr>
        <p:spPr>
          <a:xfrm>
            <a:off x="387000" y="333360"/>
            <a:ext cx="10779480" cy="49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marL="12600">
              <a:lnSpc>
                <a:spcPct val="100000"/>
              </a:lnSpc>
              <a:spcBef>
                <a:spcPts val="1111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876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alarm 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pause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Functions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321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pause function suspends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until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caught.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&lt;unistd.h&gt; 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 pause(void);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buNone/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–1 with errno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-7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EINTR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r>
              <a:rPr b="0" lang="en-IN" sz="2400" spc="-1" strike="noStrike">
                <a:latin typeface="Calibri"/>
              </a:rPr>
              <a:t>The only time pause returns is if a signal handler is executed and that handler returns. In that case, pause returns –1 with errno set to EINTR.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ftr" idx="41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2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019F1C48-F8C8-4E7C-A05C-D234370A519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07" name="object 4"/>
          <p:cNvSpPr/>
          <p:nvPr/>
        </p:nvSpPr>
        <p:spPr>
          <a:xfrm>
            <a:off x="387000" y="333360"/>
            <a:ext cx="11016720" cy="19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marL="12600">
              <a:lnSpc>
                <a:spcPct val="100000"/>
              </a:lnSpc>
              <a:spcBef>
                <a:spcPts val="1111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876"/>
              </a:spcBef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alarm 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pause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Functions</a:t>
            </a:r>
            <a:endParaRPr b="0" lang="en-IN" sz="2400" spc="-1" strike="noStrike">
              <a:latin typeface="Arial"/>
            </a:endParaRPr>
          </a:p>
          <a:p>
            <a:pPr marL="165240">
              <a:lnSpc>
                <a:spcPct val="100000"/>
              </a:lnSpc>
              <a:spcBef>
                <a:spcPts val="1321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pause,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sleep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specified amount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time.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sleep()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implemented 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alarm() and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pause().</a:t>
            </a: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208" name="object 5"/>
          <p:cNvGraphicFramePr/>
          <p:nvPr/>
        </p:nvGraphicFramePr>
        <p:xfrm>
          <a:off x="559080" y="2513880"/>
          <a:ext cx="11039040" cy="3382920"/>
        </p:xfrm>
        <a:graphic>
          <a:graphicData uri="http://schemas.openxmlformats.org/drawingml/2006/table">
            <a:tbl>
              <a:tblPr/>
              <a:tblGrid>
                <a:gridCol w="4480920"/>
                <a:gridCol w="6558120"/>
              </a:tblGrid>
              <a:tr h="3382920">
                <a:tc>
                  <a:txBody>
                    <a:bodyPr lIns="0" rIns="0" tIns="259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&lt;signal.h&gt;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</a:t>
                      </a:r>
                      <a:r>
                        <a:rPr b="1" lang="en-IN" sz="2400" spc="-7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&lt;unistd.h&gt;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static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void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sig_alrm(int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signo)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nothing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to do,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just return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to  </a:t>
                      </a:r>
                      <a:r>
                        <a:rPr b="1" lang="en-IN" sz="24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wake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up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the pause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5920" bIns="0" anchor="t">
                      <a:noAutofit/>
                    </a:bodyPr>
                    <a:p>
                      <a:pPr marL="9216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unsigned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sleep(unsigned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</a:t>
                      </a:r>
                      <a:r>
                        <a:rPr b="1" lang="en-IN" sz="2400" spc="5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nsecs)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637560" indent="-5461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(signal(SIGALRM,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sig_alrm)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SIG_ERR)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return(nsecs);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5461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alarm(nsecs); /*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start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the timer</a:t>
                      </a:r>
                      <a:r>
                        <a:rPr b="1" lang="en-IN" sz="2400" spc="29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546120">
                        <a:lnSpc>
                          <a:spcPct val="100000"/>
                        </a:lnSpc>
                        <a:buNone/>
                        <a:tabLst>
                          <a:tab algn="l" pos="125784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pause();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next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caught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wakes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 up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return(alarm(0));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546120">
                        <a:lnSpc>
                          <a:spcPct val="100000"/>
                        </a:lnSpc>
                        <a:buNone/>
                        <a:tabLst>
                          <a:tab algn="l" pos="125784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turn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off </a:t>
                      </a:r>
                      <a:r>
                        <a:rPr b="1" lang="en-IN" sz="2400" spc="-35" strike="noStrike">
                          <a:solidFill>
                            <a:srgbClr val="ffffff"/>
                          </a:solidFill>
                          <a:latin typeface="Calibri"/>
                        </a:rPr>
                        <a:t>timer,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return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unslept time</a:t>
                      </a:r>
                      <a:r>
                        <a:rPr b="1" lang="en-IN" sz="2400" spc="43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546120">
                        <a:lnSpc>
                          <a:spcPct val="100000"/>
                        </a:lnSpc>
                        <a:buNone/>
                        <a:tabLst>
                          <a:tab algn="l" pos="125784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ftr" idx="43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4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78FB24E8-DE89-4373-B02D-6FF52E138D4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13" name="object 4"/>
          <p:cNvSpPr/>
          <p:nvPr/>
        </p:nvSpPr>
        <p:spPr>
          <a:xfrm>
            <a:off x="387000" y="462960"/>
            <a:ext cx="10191240" cy="58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44"/>
              </a:spcBef>
              <a:buNone/>
            </a:pP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SETS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46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need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type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represent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multiple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signals—a signal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POSIX.1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defines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sigset_t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contain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set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following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five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manipulate signal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sets.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2678400"/>
                <a:tab algn="l" pos="31662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si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y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sigse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_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*se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); 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sigfillset(sigset_t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*set);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2745000"/>
                <a:tab algn="l" pos="2828880"/>
                <a:tab algn="l" pos="3903480"/>
                <a:tab algn="l" pos="398916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si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ad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sigse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_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*se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1" lang="en-US" sz="24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sign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); 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sigdelset(sigset_t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*set,</a:t>
            </a:r>
            <a:r>
              <a:rPr b="1" lang="en-US" sz="2400" spc="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signo);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745000"/>
                <a:tab algn="l" pos="2828880"/>
                <a:tab algn="l" pos="3903480"/>
                <a:tab algn="l" pos="3989160"/>
              </a:tabLst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2745000"/>
                <a:tab algn="l" pos="2828880"/>
                <a:tab algn="l" pos="3903480"/>
                <a:tab algn="l" pos="398916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0 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OK, -1 on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error.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ftr" idx="45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17" name="object 6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260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8" name="object 4"/>
          <p:cNvSpPr/>
          <p:nvPr/>
        </p:nvSpPr>
        <p:spPr>
          <a:xfrm>
            <a:off x="387000" y="462960"/>
            <a:ext cx="10645920" cy="61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2044"/>
              </a:spcBef>
              <a:buNone/>
            </a:pP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MASK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spcBef>
                <a:spcPts val="2044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mask of a process is the set of signals currently blocked from delivery to that process.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initially inherits 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parent’s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mask when 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created,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but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pending  signals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not passed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on.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may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query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or set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mask via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sigprocmask</a:t>
            </a:r>
            <a:r>
              <a:rPr b="0" lang="en-US" sz="2400" spc="-7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API: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  <a:tabLst>
                <a:tab algn="l" pos="3247920"/>
                <a:tab algn="l" pos="677340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sigprocmask(int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cmd,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const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sigset_t</a:t>
            </a:r>
            <a:r>
              <a:rPr b="1" lang="en-US" sz="2400" spc="3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*new_mask,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sigset_t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*old_mask);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3247920"/>
                <a:tab algn="l" pos="6773400"/>
              </a:tabLst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buNone/>
              <a:tabLst>
                <a:tab algn="l" pos="3247920"/>
                <a:tab algn="l" pos="6773400"/>
              </a:tabLst>
            </a:pP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  <a:tabLst>
                <a:tab algn="l" pos="3247920"/>
                <a:tab algn="l" pos="677340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0 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OK, -1 on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error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  <a:tabLst>
                <a:tab algn="l" pos="3247920"/>
                <a:tab algn="l" pos="6773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ftr" idx="46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22" name="object 7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261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387000" y="462960"/>
            <a:ext cx="1075320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44"/>
              </a:spcBef>
              <a:buNone/>
            </a:pP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MASK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new_mask argument defines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 of signals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set 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reset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mask, and the cmd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how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new_mask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used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API.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possible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cmd and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corresponding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new_mask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</a:t>
            </a:r>
            <a:r>
              <a:rPr b="0" lang="en-US" sz="2400" spc="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are: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224" name="object 5"/>
          <p:cNvGraphicFramePr/>
          <p:nvPr/>
        </p:nvGraphicFramePr>
        <p:xfrm>
          <a:off x="669960" y="3093480"/>
          <a:ext cx="10738800" cy="2498760"/>
        </p:xfrm>
        <a:graphic>
          <a:graphicData uri="http://schemas.openxmlformats.org/drawingml/2006/table">
            <a:tbl>
              <a:tblPr/>
              <a:tblGrid>
                <a:gridCol w="1959480"/>
                <a:gridCol w="8779320"/>
              </a:tblGrid>
              <a:tr h="396000">
                <a:tc>
                  <a:txBody>
                    <a:bodyPr lIns="0" rIns="0" tIns="29520" bIns="0" anchor="t">
                      <a:noAutofit/>
                    </a:bodyPr>
                    <a:p>
                      <a:pPr marL="370800">
                        <a:lnSpc>
                          <a:spcPct val="100000"/>
                        </a:lnSpc>
                        <a:spcBef>
                          <a:spcPts val="235"/>
                        </a:spcBef>
                        <a:buNone/>
                        <a:tabLst>
                          <a:tab algn="l" pos="1019880"/>
                        </a:tabLst>
                      </a:pP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Cmd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35"/>
                        </a:spcBef>
                        <a:buNone/>
                      </a:pP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  <a:tr h="700920">
                <a:tc>
                  <a:txBody>
                    <a:bodyPr lIns="0" rIns="0" tIns="18216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1434"/>
                        </a:spcBef>
                        <a:buNone/>
                      </a:pPr>
                      <a:r>
                        <a:rPr b="1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SIG_SETMASK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  <a:buNone/>
                      </a:pP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Overrides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calling </a:t>
                      </a:r>
                      <a:r>
                        <a:rPr b="0" lang="en-IN" sz="20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 mask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with the </a:t>
                      </a:r>
                      <a:r>
                        <a:rPr b="0" lang="en-IN" sz="20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value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specified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the</a:t>
                      </a:r>
                      <a:r>
                        <a:rPr b="0" lang="en-IN" sz="2000" spc="109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new_mask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argument.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</a:tr>
              <a:tr h="700920">
                <a:tc>
                  <a:txBody>
                    <a:bodyPr lIns="0" rIns="0" tIns="18216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1434"/>
                        </a:spcBef>
                        <a:buNone/>
                      </a:pPr>
                      <a:r>
                        <a:rPr b="1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SIG_BLOCK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  <a:buNone/>
                      </a:pP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Adds the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signals specified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the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new_mask </a:t>
                      </a:r>
                      <a:r>
                        <a:rPr b="0" lang="en-IN" sz="20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argument </a:t>
                      </a:r>
                      <a:r>
                        <a:rPr b="0" lang="en-IN" sz="20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calling </a:t>
                      </a:r>
                      <a:r>
                        <a:rPr b="0" lang="en-IN" sz="20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  mask.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</a:tr>
              <a:tr h="700920">
                <a:tc>
                  <a:txBody>
                    <a:bodyPr lIns="0" rIns="0" tIns="18288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1440"/>
                        </a:spcBef>
                        <a:buNone/>
                      </a:pPr>
                      <a:r>
                        <a:rPr b="1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SIG_UNBLOCK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 lIns="0" rIns="0" tIns="302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41"/>
                        </a:spcBef>
                        <a:buNone/>
                      </a:pPr>
                      <a:r>
                        <a:rPr b="0" lang="en-IN" sz="20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Removes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signals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specified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the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new_mask argument </a:t>
                      </a:r>
                      <a:r>
                        <a:rPr b="0" lang="en-IN" sz="2000" spc="-15" strike="noStrike">
                          <a:solidFill>
                            <a:srgbClr val="000000"/>
                          </a:solidFill>
                          <a:latin typeface="Calibri"/>
                        </a:rPr>
                        <a:t>from </a:t>
                      </a:r>
                      <a:r>
                        <a:rPr b="0" lang="en-IN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calling</a:t>
                      </a:r>
                      <a:r>
                        <a:rPr b="0" lang="en-IN" sz="2000" spc="58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IN" sz="20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0" lang="en-IN" sz="20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signal mask.</a:t>
                      </a:r>
                      <a:endParaRPr b="0" lang="en-IN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d9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object 2"/>
          <p:cNvSpPr/>
          <p:nvPr/>
        </p:nvSpPr>
        <p:spPr>
          <a:xfrm>
            <a:off x="11931120" y="6400800"/>
            <a:ext cx="260640" cy="456840"/>
          </a:xfrm>
          <a:custGeom>
            <a:avLst/>
            <a:gdLst/>
            <a:ahLst/>
            <a:rect l="l" t="t" r="r" b="b"/>
            <a:pathLst>
              <a:path w="260984" h="457200">
                <a:moveTo>
                  <a:pt x="0" y="457199"/>
                </a:moveTo>
                <a:lnTo>
                  <a:pt x="260730" y="457199"/>
                </a:lnTo>
                <a:lnTo>
                  <a:pt x="26073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object 3"/>
          <p:cNvSpPr/>
          <p:nvPr/>
        </p:nvSpPr>
        <p:spPr>
          <a:xfrm>
            <a:off x="2880" y="6400800"/>
            <a:ext cx="457560" cy="456840"/>
          </a:xfrm>
          <a:custGeom>
            <a:avLst/>
            <a:gdLst/>
            <a:ahLst/>
            <a:rect l="l" t="t" r="r" b="b"/>
            <a:pathLst>
              <a:path w="457834" h="457200">
                <a:moveTo>
                  <a:pt x="0" y="457199"/>
                </a:moveTo>
                <a:lnTo>
                  <a:pt x="457327" y="457199"/>
                </a:lnTo>
                <a:lnTo>
                  <a:pt x="457327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bc57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object 4"/>
          <p:cNvSpPr/>
          <p:nvPr/>
        </p:nvSpPr>
        <p:spPr>
          <a:xfrm>
            <a:off x="11931120" y="6333840"/>
            <a:ext cx="257400" cy="63720"/>
          </a:xfrm>
          <a:custGeom>
            <a:avLst/>
            <a:gdLst/>
            <a:ahLst/>
            <a:rect l="l" t="t" r="r" b="b"/>
            <a:pathLst>
              <a:path w="257809" h="64135">
                <a:moveTo>
                  <a:pt x="0" y="64007"/>
                </a:moveTo>
                <a:lnTo>
                  <a:pt x="257682" y="64007"/>
                </a:lnTo>
                <a:lnTo>
                  <a:pt x="25768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object 5"/>
          <p:cNvSpPr/>
          <p:nvPr/>
        </p:nvSpPr>
        <p:spPr>
          <a:xfrm>
            <a:off x="0" y="6333840"/>
            <a:ext cx="460080" cy="63720"/>
          </a:xfrm>
          <a:custGeom>
            <a:avLst/>
            <a:gdLst/>
            <a:ahLst/>
            <a:rect l="l" t="t" r="r" b="b"/>
            <a:pathLst>
              <a:path w="460375" h="64135">
                <a:moveTo>
                  <a:pt x="0" y="64007"/>
                </a:moveTo>
                <a:lnTo>
                  <a:pt x="460375" y="64007"/>
                </a:lnTo>
                <a:lnTo>
                  <a:pt x="460375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object 7"/>
          <p:cNvSpPr/>
          <p:nvPr/>
        </p:nvSpPr>
        <p:spPr>
          <a:xfrm>
            <a:off x="5373000" y="6588360"/>
            <a:ext cx="5749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1"/>
              </a:lnSpc>
              <a:buNone/>
              <a:tabLst>
                <a:tab algn="l" pos="5543640"/>
              </a:tabLst>
            </a:pPr>
            <a:r>
              <a:rPr b="0" lang="en-IN" sz="1350" spc="-1" strike="noStrike" baseline="3000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	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262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1" name="object 8"/>
          <p:cNvSpPr/>
          <p:nvPr/>
        </p:nvSpPr>
        <p:spPr>
          <a:xfrm>
            <a:off x="364680" y="405360"/>
            <a:ext cx="11260080" cy="20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9120" bIns="0" anchor="t">
            <a:spAutoFit/>
          </a:bodyPr>
          <a:p>
            <a:pPr marL="34920">
              <a:lnSpc>
                <a:spcPct val="100000"/>
              </a:lnSpc>
              <a:spcBef>
                <a:spcPts val="544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91"/>
              </a:spcBef>
              <a:buNone/>
            </a:pP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MASK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following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example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checks whether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SIGINT 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present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mask  and adds it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mask if it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not there. Then clears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SIGSEGV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mask.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2" name="object 9"/>
          <p:cNvSpPr/>
          <p:nvPr/>
        </p:nvSpPr>
        <p:spPr>
          <a:xfrm>
            <a:off x="460440" y="2414160"/>
            <a:ext cx="360" cy="4443480"/>
          </a:xfrm>
          <a:custGeom>
            <a:avLst/>
            <a:gdLst/>
            <a:ahLst/>
            <a:rect l="l" t="t" r="r" b="b"/>
            <a:pathLst>
              <a:path w="0" h="4443730">
                <a:moveTo>
                  <a:pt x="0" y="0"/>
                </a:moveTo>
                <a:lnTo>
                  <a:pt x="0" y="4443728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object 10"/>
          <p:cNvSpPr/>
          <p:nvPr/>
        </p:nvSpPr>
        <p:spPr>
          <a:xfrm>
            <a:off x="11931120" y="2414160"/>
            <a:ext cx="360" cy="4443480"/>
          </a:xfrm>
          <a:custGeom>
            <a:avLst/>
            <a:gdLst/>
            <a:ahLst/>
            <a:rect l="l" t="t" r="r" b="b"/>
            <a:pathLst>
              <a:path w="0" h="4443730">
                <a:moveTo>
                  <a:pt x="0" y="0"/>
                </a:moveTo>
                <a:lnTo>
                  <a:pt x="0" y="4443728"/>
                </a:lnTo>
              </a:path>
            </a:pathLst>
          </a:custGeom>
          <a:noFill/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34" name="object 11"/>
          <p:cNvGraphicFramePr/>
          <p:nvPr/>
        </p:nvGraphicFramePr>
        <p:xfrm>
          <a:off x="2880" y="2414160"/>
          <a:ext cx="12188880" cy="2805840"/>
        </p:xfrm>
        <a:graphic>
          <a:graphicData uri="http://schemas.openxmlformats.org/drawingml/2006/table">
            <a:tbl>
              <a:tblPr/>
              <a:tblGrid>
                <a:gridCol w="457200"/>
                <a:gridCol w="4870440"/>
                <a:gridCol w="6600600"/>
                <a:gridCol w="261000"/>
              </a:tblGrid>
              <a:tr h="4437360">
                <a:tc>
                  <a:tcPr anchor="t">
                    <a:noFill/>
                  </a:tcPr>
                </a:tc>
                <a:tc>
                  <a:txBody>
                    <a:bodyPr lIns="0" rIns="0" tIns="266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&lt;stdio.h&gt;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</a:t>
                      </a:r>
                      <a:r>
                        <a:rPr b="1" lang="en-IN" sz="2400" spc="-100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&lt;signal.h&gt; 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main()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sigset_t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mask; 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</a:t>
                      </a:r>
                      <a:r>
                        <a:rPr b="1" lang="en-IN" sz="24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(&amp;m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sk);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/*initialize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set*/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(sigprocmask(0,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0, &amp;mask)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</a:t>
                      </a:r>
                      <a:r>
                        <a:rPr b="1" lang="en-IN" sz="2400" spc="-5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-1)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432360" indent="-27288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/*get current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400" spc="-5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mask*/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perror(“sigprocmask”);  exit(1);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 indent="-2728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solidFill>
                      <a:srgbClr val="e38312"/>
                    </a:solidFill>
                  </a:tcPr>
                </a:tc>
                <a:tc>
                  <a:txBody>
                    <a:bodyPr lIns="0" rIns="0" tIns="26640" bIns="0" anchor="t">
                      <a:noAutofit/>
                    </a:bodyPr>
                    <a:p>
                      <a:pPr marL="92160">
                        <a:lnSpc>
                          <a:spcPct val="100000"/>
                        </a:lnSpc>
                        <a:spcBef>
                          <a:spcPts val="210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else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2725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sigaddset(&amp;mask, SIGINT); /*set SIGINT flag*/  sigdelset(&amp;mask,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SIGSEGV);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2725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/*clear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SIGSEGV</a:t>
                      </a:r>
                      <a:r>
                        <a:rPr b="1" lang="en-IN" sz="2400" spc="-3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flag*/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365040" indent="-2728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(sigprocmask(SIG_SETMASK,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&amp;mask, 0)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 -1)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perror(“sigprocmask”);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160560" indent="-2728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/*set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new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 mask*/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27288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.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T w="12240">
                      <a:solidFill>
                        <a:srgbClr val="ffffff"/>
                      </a:solidFill>
                    </a:lnT>
                    <a:solidFill>
                      <a:srgbClr val="e38312"/>
                    </a:solidFill>
                  </a:tcPr>
                </a:tc>
                <a:tc>
                  <a:tcPr anchor="t"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ftr" idx="4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8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671EE0A6-0AE3-4160-A5E6-2A9F1C681F7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39" name="object 4"/>
          <p:cNvSpPr/>
          <p:nvPr/>
        </p:nvSpPr>
        <p:spPr>
          <a:xfrm>
            <a:off x="364680" y="405360"/>
            <a:ext cx="10404000" cy="12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9120" bIns="0" anchor="t">
            <a:spAutoFit/>
          </a:bodyPr>
          <a:p>
            <a:pPr marL="34920">
              <a:lnSpc>
                <a:spcPct val="100000"/>
              </a:lnSpc>
              <a:spcBef>
                <a:spcPts val="544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91"/>
              </a:spcBef>
              <a:buNone/>
            </a:pP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MASK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program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prints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names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mask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</a:t>
            </a:r>
            <a:r>
              <a:rPr b="0" lang="en-US" sz="2400" spc="-7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</a:t>
            </a:r>
            <a:endParaRPr b="0" lang="en-IN" sz="2400" spc="-1" strike="noStrike">
              <a:latin typeface="Arial"/>
            </a:endParaRPr>
          </a:p>
        </p:txBody>
      </p:sp>
      <p:graphicFrame>
        <p:nvGraphicFramePr>
          <p:cNvPr id="240" name="object 5"/>
          <p:cNvGraphicFramePr/>
          <p:nvPr/>
        </p:nvGraphicFramePr>
        <p:xfrm>
          <a:off x="279720" y="2057040"/>
          <a:ext cx="11471040" cy="3657240"/>
        </p:xfrm>
        <a:graphic>
          <a:graphicData uri="http://schemas.openxmlformats.org/drawingml/2006/table">
            <a:tbl>
              <a:tblPr/>
              <a:tblGrid>
                <a:gridCol w="4870440"/>
                <a:gridCol w="6600600"/>
              </a:tblGrid>
              <a:tr h="4050360">
                <a:tc>
                  <a:txBody>
                    <a:bodyPr lIns="0" rIns="0" tIns="25920" bIns="0" anchor="t">
                      <a:noAutofit/>
                    </a:bodyPr>
                    <a:p>
                      <a:pPr marL="9072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&lt;stdio.h&gt;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</a:t>
                      </a:r>
                      <a:r>
                        <a:rPr b="1" lang="en-IN" sz="2400" spc="-97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&lt;signal.h&gt; 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main()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sigset_t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sigset; 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</a:t>
                      </a:r>
                      <a:r>
                        <a:rPr b="1" lang="en-IN" sz="24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y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t(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&amp;sigse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/*initialize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set*/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(sigprocmask(0, 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NULL,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&amp;sigset)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&lt;</a:t>
                      </a:r>
                      <a:r>
                        <a:rPr b="1" lang="en-IN" sz="2400" spc="-60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501120">
                        <a:lnSpc>
                          <a:spcPct val="100000"/>
                        </a:lnSpc>
                        <a:buNone/>
                        <a:tabLst>
                          <a:tab algn="l" pos="12769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perror("sigprocmask</a:t>
                      </a:r>
                      <a:r>
                        <a:rPr b="1" lang="en-IN" sz="24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error");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5920" bIns="0" anchor="t">
                      <a:noAutofit/>
                    </a:bodyPr>
                    <a:p>
                      <a:pPr marL="843120" indent="-75168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(sigismember(&amp;sigset, SIGINT))  printf("SIGINT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570240" indent="-47880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(sigismember(&amp;sigset, SIGQUIT))  printf("SIGQUIT 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705960" indent="-61452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(sigismember(&amp;sigset, SIGUSR1))  printf("SIGUSR1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637560" indent="-5461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(sigismember(&amp;sigset, SIGALRM))  printf("SIGALRM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5461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ftr" idx="4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50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15A97981-DBCF-4E4E-B8FF-FB4508AEDED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45" name="object 4"/>
          <p:cNvSpPr/>
          <p:nvPr/>
        </p:nvSpPr>
        <p:spPr>
          <a:xfrm>
            <a:off x="387000" y="462960"/>
            <a:ext cx="10449720" cy="29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44"/>
              </a:spcBef>
              <a:buNone/>
            </a:pP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SIGPENDING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FUNCTION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sigpending function returns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 of signals that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are blocked from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delivery and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currently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pending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set of signals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returned through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argument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46" name="object 5"/>
          <p:cNvSpPr/>
          <p:nvPr/>
        </p:nvSpPr>
        <p:spPr>
          <a:xfrm>
            <a:off x="387000" y="3706200"/>
            <a:ext cx="334368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sigpending(sigset_t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47" name="object 6"/>
          <p:cNvSpPr/>
          <p:nvPr/>
        </p:nvSpPr>
        <p:spPr>
          <a:xfrm>
            <a:off x="3954960" y="4133520"/>
            <a:ext cx="8510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*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1" lang="en-US" sz="2800" spc="-32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t);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48" name="object 7"/>
          <p:cNvSpPr/>
          <p:nvPr/>
        </p:nvSpPr>
        <p:spPr>
          <a:xfrm>
            <a:off x="387000" y="4929120"/>
            <a:ext cx="35301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0 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OK,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–1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400" spc="-8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error.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ftr" idx="51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2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853D4537-76A9-494D-9E7E-832D72E3C6E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53" name="object 4"/>
          <p:cNvSpPr/>
          <p:nvPr/>
        </p:nvSpPr>
        <p:spPr>
          <a:xfrm>
            <a:off x="237600" y="709200"/>
            <a:ext cx="11468880" cy="41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1620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SIGPENDING</a:t>
            </a:r>
            <a:r>
              <a:rPr b="1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FUNCTION</a:t>
            </a:r>
            <a:endParaRPr b="0" lang="en-IN" sz="24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189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800"/>
                <a:tab algn="l" pos="47052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blocks </a:t>
            </a:r>
            <a:r>
              <a:rPr b="0" lang="en-US" sz="2800" spc="-41" strike="noStrike">
                <a:solidFill>
                  <a:srgbClr val="000000"/>
                </a:solidFill>
                <a:latin typeface="Calibri"/>
              </a:rPr>
              <a:t>SIGQUIT,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saving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its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current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 mask (to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reset later), 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then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goes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sleep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5</a:t>
            </a:r>
            <a:r>
              <a:rPr b="0" lang="en-US" sz="2800" spc="10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seconds.</a:t>
            </a:r>
            <a:endParaRPr b="0" lang="en-IN" sz="28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800"/>
                <a:tab algn="l" pos="470520"/>
              </a:tabLst>
            </a:pP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Any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occurrence of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quit signal during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this period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blocked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won't be 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delivered until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signal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800" spc="8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unblocked.</a:t>
            </a:r>
            <a:endParaRPr b="0" lang="en-IN" sz="28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604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800"/>
                <a:tab algn="l" pos="470520"/>
              </a:tabLst>
            </a:pPr>
            <a:r>
              <a:rPr b="0" lang="en-US" sz="2800" spc="-41" strike="noStrike">
                <a:solidFill>
                  <a:srgbClr val="000000"/>
                </a:solidFill>
                <a:latin typeface="Calibri"/>
              </a:rPr>
              <a:t>At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end of the 5-second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sleep,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check whether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is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pending  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unblock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800" spc="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object 2"/>
          <p:cNvSpPr/>
          <p:nvPr/>
        </p:nvSpPr>
        <p:spPr>
          <a:xfrm>
            <a:off x="5373000" y="6596280"/>
            <a:ext cx="2782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856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P</a:t>
            </a:r>
            <a:r>
              <a:rPr b="0" lang="en-US" sz="900" spc="4" strike="noStrike">
                <a:solidFill>
                  <a:srgbClr val="ffffff"/>
                </a:solidFill>
                <a:latin typeface="Calibri"/>
              </a:rPr>
              <a:t>R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</a:t>
            </a:r>
            <a:r>
              <a:rPr b="0" lang="en-US" sz="900" spc="-12" strike="noStrike">
                <a:solidFill>
                  <a:srgbClr val="ffffff"/>
                </a:solidFill>
                <a:latin typeface="Calibri"/>
              </a:rPr>
              <a:t>F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5" name="object 3"/>
          <p:cNvSpPr/>
          <p:nvPr/>
        </p:nvSpPr>
        <p:spPr>
          <a:xfrm>
            <a:off x="5676120" y="6588360"/>
            <a:ext cx="54468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01"/>
              </a:lnSpc>
              <a:buNone/>
              <a:tabLst>
                <a:tab algn="l" pos="5240520"/>
              </a:tabLst>
            </a:pPr>
            <a:r>
              <a:rPr b="0" lang="en-US" sz="1350" spc="-15" strike="noStrike" baseline="3000">
                <a:solidFill>
                  <a:srgbClr val="ffffff"/>
                </a:solidFill>
                <a:latin typeface="Calibri"/>
              </a:rPr>
              <a:t>S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YED</a:t>
            </a:r>
            <a:r>
              <a:rPr b="0" lang="en-US" sz="1350" spc="-24" strike="noStrike" baseline="3000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M</a:t>
            </a:r>
            <a:r>
              <a:rPr b="0" lang="en-US" sz="1350" spc="-7" strike="noStrike" baseline="3000">
                <a:solidFill>
                  <a:srgbClr val="ffffff"/>
                </a:solidFill>
                <a:latin typeface="Calibri"/>
              </a:rPr>
              <a:t>U</a:t>
            </a:r>
            <a:r>
              <a:rPr b="0" lang="en-US" sz="1350" spc="-15" strike="noStrike" baseline="3000">
                <a:solidFill>
                  <a:srgbClr val="ffffff"/>
                </a:solidFill>
                <a:latin typeface="Calibri"/>
              </a:rPr>
              <a:t>S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T</a:t>
            </a:r>
            <a:r>
              <a:rPr b="0" lang="en-US" sz="1350" spc="-15" strike="noStrike" baseline="3000">
                <a:solidFill>
                  <a:srgbClr val="ffffff"/>
                </a:solidFill>
                <a:latin typeface="Calibri"/>
              </a:rPr>
              <a:t>AFA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,</a:t>
            </a:r>
            <a:r>
              <a:rPr b="0" lang="en-US" sz="1350" spc="12" strike="noStrike" baseline="3000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HKBKCE</a:t>
            </a:r>
            <a:r>
              <a:rPr b="0" lang="en-US" sz="1350" spc="-1" strike="noStrike" baseline="3000">
                <a:solidFill>
                  <a:srgbClr val="ffffff"/>
                </a:solidFill>
                <a:latin typeface="Calibri"/>
              </a:rPr>
              <a:t>	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266</a:t>
            </a:r>
            <a:endParaRPr b="0" lang="en-IN" sz="1050" spc="-1" strike="noStrike">
              <a:latin typeface="Arial"/>
            </a:endParaRPr>
          </a:p>
        </p:txBody>
      </p:sp>
      <p:graphicFrame>
        <p:nvGraphicFramePr>
          <p:cNvPr id="256" name="object 4"/>
          <p:cNvGraphicFramePr/>
          <p:nvPr/>
        </p:nvGraphicFramePr>
        <p:xfrm>
          <a:off x="2880" y="936000"/>
          <a:ext cx="12188160" cy="5779800"/>
        </p:xfrm>
        <a:graphic>
          <a:graphicData uri="http://schemas.openxmlformats.org/drawingml/2006/table">
            <a:tbl>
              <a:tblPr/>
              <a:tblGrid>
                <a:gridCol w="304560"/>
                <a:gridCol w="5380200"/>
                <a:gridCol w="6388560"/>
                <a:gridCol w="115200"/>
              </a:tblGrid>
              <a:tr h="6113880">
                <a:tc>
                  <a:tcPr anchor="t">
                    <a:lnR w="12240">
                      <a:solidFill>
                        <a:srgbClr val="ffffff"/>
                      </a:solidFill>
                    </a:lnR>
                    <a:noFill/>
                  </a:tcPr>
                </a:tc>
                <a:tc>
                  <a:txBody>
                    <a:bodyPr lIns="0" rIns="0" tIns="259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 &lt;signal.h&gt;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 &lt;unistd.h&gt;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static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void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sig_quit(int</a:t>
                      </a:r>
                      <a:r>
                        <a:rPr b="1" lang="en-IN" sz="2400" spc="18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signo)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printf("caught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SIGQUIT\n");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(signal(SIGQUIT,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SIG_DFL)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SIG_ERR)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22860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perror("can't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reset</a:t>
                      </a:r>
                      <a:r>
                        <a:rPr b="1" lang="en-IN" sz="24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151776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main(void)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sigset_t newmask,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oldmask,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pendmask; 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(signal(SIGQUIT,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sig_quit)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==</a:t>
                      </a:r>
                      <a:r>
                        <a:rPr b="1" lang="en-IN" sz="2400" spc="18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SIG_ERR)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29520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perror("can't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catch</a:t>
                      </a:r>
                      <a:r>
                        <a:rPr b="1" lang="en-IN" sz="24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ts val="2384"/>
                        </a:lnSpc>
                        <a:spcBef>
                          <a:spcPts val="31"/>
                        </a:spcBef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Block SIGQUIT and </a:t>
                      </a:r>
                      <a:r>
                        <a:rPr b="1" lang="en-IN" sz="20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save 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current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000" spc="-60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mask*/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ts val="2809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sigemptyset(&amp;newmask);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ts val="2835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sigaddset(&amp;newmask,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SIGQUIT);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solidFill>
                      <a:srgbClr val="e38312"/>
                    </a:solidFill>
                  </a:tcPr>
                </a:tc>
                <a:tc>
                  <a:txBody>
                    <a:bodyPr lIns="0" rIns="0" tIns="25920" bIns="0" anchor="t">
                      <a:noAutofit/>
                    </a:bodyPr>
                    <a:p>
                      <a:pPr marL="9216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(sigprocmask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(SIG_BLOCK, &amp;newmask,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&amp;oldmask) &lt;</a:t>
                      </a:r>
                      <a:r>
                        <a:rPr b="1" lang="en-IN" sz="2000" spc="-5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34092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perror("SIG_BLOCK</a:t>
                      </a:r>
                      <a:r>
                        <a:rPr b="1" lang="en-IN" sz="2400" spc="-6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error");  sleep(5);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340920">
                        <a:lnSpc>
                          <a:spcPts val="2384"/>
                        </a:lnSpc>
                        <a:spcBef>
                          <a:spcPts val="31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 here will 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remain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pending</a:t>
                      </a:r>
                      <a:r>
                        <a:rPr b="1" lang="en-IN" sz="2000" spc="-5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295920" indent="-204480">
                        <a:lnSpc>
                          <a:spcPts val="2880"/>
                        </a:lnSpc>
                        <a:spcBef>
                          <a:spcPts val="79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(sigpending(&amp;pendmask)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&lt; 0)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perror("sigpending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error");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433080" indent="-341640">
                        <a:lnSpc>
                          <a:spcPts val="288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(sigismember(&amp;pendmask, SIGQUIT))  printf("\nSIGQUIT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pending\n");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341640">
                        <a:lnSpc>
                          <a:spcPts val="2319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Reset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mask which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unblocks</a:t>
                      </a:r>
                      <a:r>
                        <a:rPr b="1" lang="en-IN" sz="2000" spc="-9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SIGQUIT*/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295920" indent="-204480">
                        <a:lnSpc>
                          <a:spcPts val="2880"/>
                        </a:lnSpc>
                        <a:spcBef>
                          <a:spcPts val="79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sigprocmask(SIG_SETMASK,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&amp;oldmask, NULL) &lt; </a:t>
                      </a:r>
                      <a:r>
                        <a:rPr b="1" lang="en-IN" sz="20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)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perror("SIG_SETMASK</a:t>
                      </a:r>
                      <a:r>
                        <a:rPr b="1" lang="en-IN" sz="24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error");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204480">
                        <a:lnSpc>
                          <a:spcPts val="288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printf("SIGQUIT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unblocked\n");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sleep(5);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204480">
                        <a:lnSpc>
                          <a:spcPts val="2319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SIGQUIT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here will 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terminate </a:t>
                      </a:r>
                      <a:r>
                        <a:rPr b="1" lang="en-IN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with </a:t>
                      </a:r>
                      <a:r>
                        <a:rPr b="1" lang="en-IN" sz="20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core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  <a:r>
                        <a:rPr b="1" lang="en-IN" sz="2000" spc="-75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0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2000" spc="-1" strike="noStrike">
                        <a:latin typeface="Arial"/>
                      </a:endParaRPr>
                    </a:p>
                    <a:p>
                      <a:pPr marL="92160" indent="-204480">
                        <a:lnSpc>
                          <a:spcPts val="2866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exit(0);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204480">
                        <a:lnSpc>
                          <a:spcPts val="2866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solidFill>
                      <a:srgbClr val="e38312"/>
                    </a:solidFill>
                  </a:tcPr>
                </a:tc>
                <a:tc>
                  <a:tcPr anchor="t">
                    <a:lnL w="12240">
                      <a:solidFill>
                        <a:srgbClr val="ffffff"/>
                      </a:solidFill>
                    </a:lnL>
                    <a:noFill/>
                  </a:tcPr>
                </a:tc>
              </a:tr>
              <a:tr h="424080">
                <a:tc>
                  <a:tcPr anchor="t">
                    <a:lnR w="12240">
                      <a:solidFill>
                        <a:srgbClr val="ffffff"/>
                      </a:solidFill>
                    </a:lnR>
                    <a:solidFill>
                      <a:srgbClr val="bc572c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91440">
                        <a:lnSpc>
                          <a:spcPts val="2835"/>
                        </a:lnSpc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sigaddset(&amp;newmask,</a:t>
                      </a:r>
                      <a:r>
                        <a:rPr b="1" lang="en-IN" sz="2400" spc="4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SIGQUIT);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92160">
                        <a:lnSpc>
                          <a:spcPts val="1874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cPr anchor="t">
                    <a:lnL w="12240">
                      <a:solidFill>
                        <a:srgbClr val="ffffff"/>
                      </a:solidFill>
                    </a:lnL>
                    <a:solidFill>
                      <a:srgbClr val="bc572c"/>
                    </a:solidFill>
                  </a:tcPr>
                </a:tc>
              </a:tr>
            </a:tbl>
          </a:graphicData>
        </a:graphic>
      </p:graphicFrame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29240" y="61560"/>
            <a:ext cx="98517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3653280">
              <a:lnSpc>
                <a:spcPts val="3039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12600">
              <a:lnSpc>
                <a:spcPts val="3039"/>
              </a:lnSpc>
              <a:buNone/>
            </a:pP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 </a:t>
            </a:r>
            <a:r>
              <a:rPr b="1" lang="en-IN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- </a:t>
            </a: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SIGPENDING</a:t>
            </a:r>
            <a:r>
              <a:rPr b="1" lang="en-IN" sz="2800" spc="11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FUNCTION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ftr" idx="53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54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FBFA0846-6C75-43CB-AF74-35DF1433D095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62" name="object 4"/>
          <p:cNvSpPr/>
          <p:nvPr/>
        </p:nvSpPr>
        <p:spPr>
          <a:xfrm>
            <a:off x="364680" y="592200"/>
            <a:ext cx="11350440" cy="52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34920">
              <a:lnSpc>
                <a:spcPct val="100000"/>
              </a:lnSpc>
              <a:spcBef>
                <a:spcPts val="2506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Sigaction()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Function</a:t>
            </a:r>
            <a:endParaRPr b="0" lang="en-IN" sz="24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193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sigaction()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allows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us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examine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or modify (or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both)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action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associated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particular</a:t>
            </a:r>
            <a:r>
              <a:rPr b="0" lang="en-US" sz="2800" spc="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This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supersedes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signal() function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earlier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releases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of the  UNIX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System.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469440"/>
                <a:tab algn="l" pos="469800"/>
              </a:tabLst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8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&lt;signal.h&gt;</a:t>
            </a:r>
            <a:endParaRPr b="0" lang="en-IN" sz="2800" spc="-1" strike="noStrike">
              <a:latin typeface="Arial"/>
            </a:endParaRPr>
          </a:p>
          <a:p>
            <a:pPr marL="1875240" indent="-1863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int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sigaction(int signo,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const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struct sigaction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*restrict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act, 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struct</a:t>
            </a:r>
            <a:r>
              <a:rPr b="1" lang="en-US" sz="28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sigaction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*restrict</a:t>
            </a:r>
            <a:r>
              <a:rPr b="1" lang="en-US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oact);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None/>
              <a:tabLst>
                <a:tab algn="l" pos="0"/>
              </a:tabLst>
            </a:pPr>
            <a:endParaRPr b="0" lang="en-IN" sz="2800" spc="-1" strike="noStrike">
              <a:latin typeface="Arial"/>
            </a:endParaRPr>
          </a:p>
          <a:p>
            <a:pPr marL="12600" indent="-1863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0 if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OK,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–1 on</a:t>
            </a:r>
            <a:r>
              <a:rPr b="0" lang="en-US" sz="2800" spc="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error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ftr" idx="55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6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B8D58DD2-8E46-4FCA-9104-F487D569894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67" name="object 4"/>
          <p:cNvSpPr/>
          <p:nvPr/>
        </p:nvSpPr>
        <p:spPr>
          <a:xfrm>
            <a:off x="237600" y="938520"/>
            <a:ext cx="11373120" cy="41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sigaction()</a:t>
            </a:r>
            <a:r>
              <a:rPr b="1" lang="en-US" sz="28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Function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800"/>
                <a:tab algn="l" pos="470520"/>
                <a:tab algn="l" pos="148788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The sigaction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API is 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replacement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API in the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latest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UNIX and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POSIX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systems.</a:t>
            </a:r>
            <a:endParaRPr b="0" lang="en-IN" sz="28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800"/>
                <a:tab algn="l" pos="47052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The sigaction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API is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called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by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set up 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handling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method 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each signal it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wants 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deal</a:t>
            </a:r>
            <a:r>
              <a:rPr b="0" lang="en-US" sz="2800" spc="8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with.</a:t>
            </a:r>
            <a:endParaRPr b="0" lang="en-IN" sz="28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800"/>
                <a:tab algn="l" pos="47052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sigaction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returns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previous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handling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method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given</a:t>
            </a:r>
            <a:r>
              <a:rPr b="0" lang="en-US" sz="2800" spc="24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ftr" idx="5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58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37AF0C87-4EFD-40DD-889D-34A17077B45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72" name="object 4"/>
          <p:cNvSpPr/>
          <p:nvPr/>
        </p:nvSpPr>
        <p:spPr>
          <a:xfrm>
            <a:off x="364680" y="483480"/>
            <a:ext cx="9705600" cy="17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sigaction()</a:t>
            </a:r>
            <a:r>
              <a:rPr b="1" lang="en-US" sz="28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Function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The struct sigaction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data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type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defined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in the &lt;signal.h&gt;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header</a:t>
            </a:r>
            <a:r>
              <a:rPr b="0" lang="en-US" sz="2800" spc="22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73" name="object 5"/>
          <p:cNvSpPr/>
          <p:nvPr/>
        </p:nvSpPr>
        <p:spPr>
          <a:xfrm>
            <a:off x="364680" y="2617560"/>
            <a:ext cx="3480840" cy="25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struct</a:t>
            </a:r>
            <a:r>
              <a:rPr b="0" lang="en-US" sz="28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sigaction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2800" spc="-1" strike="noStrike">
              <a:latin typeface="Arial"/>
            </a:endParaRPr>
          </a:p>
          <a:p>
            <a:pPr marL="93240">
              <a:lnSpc>
                <a:spcPct val="100000"/>
              </a:lnSpc>
              <a:buNone/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void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(*sa_handler)(int); 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sigset_t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sa_mask;</a:t>
            </a:r>
            <a:endParaRPr b="0" lang="en-IN" sz="2800" spc="-1" strike="noStrike">
              <a:latin typeface="Arial"/>
            </a:endParaRPr>
          </a:p>
          <a:p>
            <a:pPr marL="93240">
              <a:lnSpc>
                <a:spcPct val="100000"/>
              </a:lnSpc>
              <a:buNone/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sa_flags;</a:t>
            </a:r>
            <a:endParaRPr b="0" lang="en-IN" sz="2800" spc="-1" strike="noStrike">
              <a:latin typeface="Arial"/>
            </a:endParaRPr>
          </a:p>
          <a:p>
            <a:pPr marL="93240">
              <a:lnSpc>
                <a:spcPct val="100000"/>
              </a:lnSpc>
              <a:buNone/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74" name="object 6"/>
          <p:cNvSpPr/>
          <p:nvPr/>
        </p:nvSpPr>
        <p:spPr>
          <a:xfrm>
            <a:off x="4182840" y="3471120"/>
            <a:ext cx="7566120" cy="12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4472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/* addr of signal </a:t>
            </a:r>
            <a:r>
              <a:rPr b="0" lang="en-US" sz="2800" spc="-41" strike="noStrike">
                <a:solidFill>
                  <a:srgbClr val="000000"/>
                </a:solidFill>
                <a:latin typeface="Calibri"/>
              </a:rPr>
              <a:t>handler,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or SIG_IGN, or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SIG_DFL</a:t>
            </a:r>
            <a:r>
              <a:rPr b="0" lang="en-US" sz="2800" spc="1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*/</a:t>
            </a:r>
            <a:endParaRPr b="0" lang="en-IN" sz="2800" spc="-1" strike="noStrike">
              <a:latin typeface="Arial"/>
            </a:endParaRPr>
          </a:p>
          <a:p>
            <a:pPr marL="108720">
              <a:lnSpc>
                <a:spcPct val="100000"/>
              </a:lnSpc>
              <a:buNone/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/* additional signals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block</a:t>
            </a:r>
            <a:r>
              <a:rPr b="0" lang="en-US" sz="2800" spc="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*/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/*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options</a:t>
            </a:r>
            <a:r>
              <a:rPr b="0" lang="en-US" sz="2800" spc="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*/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ftr" idx="5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78" name="object 6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270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object 4"/>
          <p:cNvSpPr/>
          <p:nvPr/>
        </p:nvSpPr>
        <p:spPr>
          <a:xfrm>
            <a:off x="364680" y="664560"/>
            <a:ext cx="11467800" cy="54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sigaction()</a:t>
            </a:r>
            <a:r>
              <a:rPr b="1" lang="en-US" sz="28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Function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2160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  <a:tab algn="l" pos="1158840"/>
                <a:tab algn="l" pos="2911320"/>
                <a:tab algn="l" pos="3699360"/>
                <a:tab algn="l" pos="4358160"/>
                <a:tab algn="l" pos="4874400"/>
                <a:tab algn="l" pos="5461560"/>
                <a:tab algn="l" pos="5916960"/>
                <a:tab algn="l" pos="7354440"/>
                <a:tab algn="l" pos="8785800"/>
                <a:tab algn="l" pos="9248760"/>
                <a:tab algn="l" pos="9573840"/>
                <a:tab algn="l" pos="1035432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sa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_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ndle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fiel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3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SIG_IGN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_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DF</a:t>
            </a:r>
            <a:r>
              <a:rPr b="0" lang="en-US" sz="2800" spc="9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use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fined  signal handler</a:t>
            </a:r>
            <a:r>
              <a:rPr b="0" lang="en-US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function.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sa_mask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field specifies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additional signals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wishes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block  when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it is handling signo</a:t>
            </a:r>
            <a:r>
              <a:rPr b="0" lang="en-US" sz="2800" spc="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  <a:tab algn="l" pos="111456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signalno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designates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which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handling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defined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i="1" lang="en-US" sz="2800" spc="-7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argument.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previous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handling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method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signalno will be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returned via</a:t>
            </a:r>
            <a:r>
              <a:rPr b="0" lang="en-US" sz="2800" spc="23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oldaction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argument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if it is not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NULL</a:t>
            </a:r>
            <a:r>
              <a:rPr b="0" lang="en-US" sz="2800" spc="11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52" strike="noStrike">
                <a:solidFill>
                  <a:srgbClr val="000000"/>
                </a:solidFill>
                <a:latin typeface="Calibri"/>
              </a:rPr>
              <a:t>pointer.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  <a:tab algn="l" pos="810720"/>
                <a:tab algn="l" pos="1850400"/>
                <a:tab algn="l" pos="1879560"/>
                <a:tab algn="l" pos="3400920"/>
                <a:tab algn="l" pos="3766680"/>
                <a:tab algn="l" pos="4081680"/>
                <a:tab algn="l" pos="4982760"/>
                <a:tab algn="l" pos="6240240"/>
                <a:tab algn="l" pos="6867000"/>
                <a:tab algn="l" pos="7927920"/>
                <a:tab algn="l" pos="9387720"/>
                <a:tab algn="l" pos="1062684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tion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46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gume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NULL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32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245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al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0" lang="en-US" sz="2800" spc="-66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oce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46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55" strike="noStrike">
                <a:solidFill>
                  <a:srgbClr val="000000"/>
                </a:solidFill>
                <a:latin typeface="Calibri"/>
              </a:rPr>
              <a:t>‘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52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xi</a:t>
            </a:r>
            <a:r>
              <a:rPr b="0" lang="en-US" sz="2800" spc="-46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ignal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handling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method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signalno will be</a:t>
            </a:r>
            <a:r>
              <a:rPr b="0" lang="en-US" sz="2800" spc="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unchanged.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29240" y="61560"/>
            <a:ext cx="98517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3653280">
              <a:lnSpc>
                <a:spcPts val="3039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12600">
              <a:lnSpc>
                <a:spcPts val="3039"/>
              </a:lnSpc>
              <a:buNone/>
            </a:pP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 </a:t>
            </a:r>
            <a:r>
              <a:rPr b="1" lang="en-IN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- </a:t>
            </a: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sigaction</a:t>
            </a:r>
            <a:r>
              <a:rPr b="1" lang="en-IN" sz="2800" spc="83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FUNCTION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ftr" idx="60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61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4830BBB0-CECE-406F-988A-0A01E03B053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graphicFrame>
        <p:nvGraphicFramePr>
          <p:cNvPr id="284" name="object 4"/>
          <p:cNvGraphicFramePr/>
          <p:nvPr/>
        </p:nvGraphicFramePr>
        <p:xfrm>
          <a:off x="228600" y="959400"/>
          <a:ext cx="11769480" cy="4713120"/>
        </p:xfrm>
        <a:graphic>
          <a:graphicData uri="http://schemas.openxmlformats.org/drawingml/2006/table">
            <a:tbl>
              <a:tblPr/>
              <a:tblGrid>
                <a:gridCol w="5380200"/>
                <a:gridCol w="6389280"/>
              </a:tblGrid>
              <a:tr h="4781880">
                <a:tc>
                  <a:txBody>
                    <a:bodyPr lIns="0" rIns="0" tIns="25920" bIns="0" anchor="t">
                      <a:noAutofit/>
                    </a:bodyPr>
                    <a:p>
                      <a:pPr marL="90720">
                        <a:lnSpc>
                          <a:spcPct val="100000"/>
                        </a:lnSpc>
                        <a:spcBef>
                          <a:spcPts val="204"/>
                        </a:spcBef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 &lt;signal.h&gt;  #include &lt;iostream.h&gt;  void callme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 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sig_num</a:t>
                      </a:r>
                      <a:r>
                        <a:rPr b="1" lang="en-IN" sz="2400" spc="-4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cout </a:t>
                      </a:r>
                      <a:r>
                        <a:rPr b="1" lang="en-IN" sz="24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&lt;&lt;“catch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signal:”&lt;&lt;sig_num&lt;&lt;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endl;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int</a:t>
                      </a:r>
                      <a:r>
                        <a:rPr b="1" lang="en-IN" sz="24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main(void)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sigset_t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sigmask;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0720">
                        <a:lnSpc>
                          <a:spcPct val="100000"/>
                        </a:lnSpc>
                        <a:buNone/>
                        <a:tabLst>
                          <a:tab algn="l" pos="569520"/>
                        </a:tabLst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struct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sigaction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action,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old_action;  sigemptyset(&amp;sigmask);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1960" bIns="0" anchor="t">
                      <a:noAutofit/>
                    </a:bodyPr>
                    <a:p>
                      <a:pPr marL="92160">
                        <a:lnSpc>
                          <a:spcPct val="100000"/>
                        </a:lnSpc>
                        <a:spcBef>
                          <a:spcPts val="176"/>
                        </a:spcBef>
                        <a:buNone/>
                        <a:tabLst>
                          <a:tab algn="l" pos="5370840"/>
                        </a:tabLst>
                      </a:pPr>
                      <a:r>
                        <a:rPr b="1" lang="en-IN" sz="28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sigaddset(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&amp;sigmask,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SIGTERM)</a:t>
                      </a:r>
                      <a:r>
                        <a:rPr b="1" lang="en-IN" sz="2400" spc="63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</a:t>
                      </a:r>
                      <a:r>
                        <a:rPr b="1" lang="en-IN" sz="2400" spc="9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-1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	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||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334800" indent="-2426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sigprocmask( SIG_SETMASK,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&amp;sigmask, 0)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== -1</a:t>
                      </a:r>
                      <a:r>
                        <a:rPr b="1" lang="en-IN" sz="28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)  </a:t>
                      </a:r>
                      <a:r>
                        <a:rPr b="1" lang="en-IN" sz="28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perror(“Set </a:t>
                      </a:r>
                      <a:r>
                        <a:rPr b="1" lang="en-IN" sz="28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  <a:r>
                        <a:rPr b="1" lang="en-IN" sz="2800" spc="7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8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mask”);</a:t>
                      </a:r>
                      <a:endParaRPr b="0" lang="en-IN" sz="2800" spc="-1" strike="noStrike">
                        <a:latin typeface="Arial"/>
                      </a:endParaRPr>
                    </a:p>
                    <a:p>
                      <a:pPr marL="92160" indent="-242640">
                        <a:lnSpc>
                          <a:spcPct val="100000"/>
                        </a:lnSpc>
                        <a:spcBef>
                          <a:spcPts val="2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sigemptyset(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&amp;action.sa_mask);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sigaddset(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&amp;action.sa_mask,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SIGSEGV); 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action.sa_handler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=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callme; 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action.sa_flags =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433800" indent="-3416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if (sigaction </a:t>
                      </a:r>
                      <a:r>
                        <a:rPr b="1" lang="en-IN" sz="2400" spc="-32" strike="noStrike">
                          <a:solidFill>
                            <a:srgbClr val="ffffff"/>
                          </a:solidFill>
                          <a:latin typeface="Calibri"/>
                        </a:rPr>
                        <a:t>(SIGINT, </a:t>
                      </a: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&amp;action, &amp;old_action) == -1) 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perror(“sigaction”);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3416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pause();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wait </a:t>
                      </a:r>
                      <a:r>
                        <a:rPr b="1" lang="en-IN" sz="2400" spc="-21" strike="noStrike">
                          <a:solidFill>
                            <a:srgbClr val="ffffff"/>
                          </a:solidFill>
                          <a:latin typeface="Calibri"/>
                        </a:rPr>
                        <a:t>for </a:t>
                      </a: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signal </a:t>
                      </a:r>
                      <a:r>
                        <a:rPr b="1" lang="en-IN" sz="24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interruption*/  return 0;</a:t>
                      </a:r>
                      <a:endParaRPr b="0" lang="en-IN" sz="2400" spc="-1" strike="noStrike">
                        <a:latin typeface="Arial"/>
                      </a:endParaRPr>
                    </a:p>
                    <a:p>
                      <a:pPr marL="92160" indent="-3416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364680" y="61560"/>
            <a:ext cx="9615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341748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buNone/>
            </a:pP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 </a:t>
            </a:r>
            <a:r>
              <a:rPr b="1" lang="en-IN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- </a:t>
            </a: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sigaction</a:t>
            </a:r>
            <a:r>
              <a:rPr b="1" lang="en-IN" sz="2800" spc="83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IN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FUNCTION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ftr" idx="62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3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11B0A909-CF0A-40E0-9578-8D7EACB6172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89" name="object 4"/>
          <p:cNvSpPr/>
          <p:nvPr/>
        </p:nvSpPr>
        <p:spPr>
          <a:xfrm>
            <a:off x="364680" y="1077480"/>
            <a:ext cx="10728000" cy="21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In the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program,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process signal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mask is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set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SIGTERM</a:t>
            </a:r>
            <a:r>
              <a:rPr b="0" lang="en-US" sz="2800" spc="21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defines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 handler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SIGINT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 and also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specifies that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SIGSEGV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 is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blocked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when 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is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handling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SIGINT</a:t>
            </a:r>
            <a:r>
              <a:rPr b="0" lang="en-US" sz="28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69440"/>
                <a:tab algn="l" pos="46980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terminates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its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execution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via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pause</a:t>
            </a:r>
            <a:r>
              <a:rPr b="0" lang="en-US" sz="2800" spc="20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API.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ftr" idx="64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65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891895EE-C0FA-418E-BD82-BA42741B28A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94" name="object 4"/>
          <p:cNvSpPr/>
          <p:nvPr/>
        </p:nvSpPr>
        <p:spPr>
          <a:xfrm>
            <a:off x="364680" y="425160"/>
            <a:ext cx="11420280" cy="59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02680" bIns="0" anchor="t">
            <a:spAutoFit/>
          </a:bodyPr>
          <a:p>
            <a:pPr marL="12600">
              <a:lnSpc>
                <a:spcPct val="100000"/>
              </a:lnSpc>
              <a:spcBef>
                <a:spcPts val="159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90"/>
              </a:spcBef>
              <a:buNone/>
            </a:pP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THE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SIGCHLD SIGNAL AND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THE waitpid</a:t>
            </a:r>
            <a:r>
              <a:rPr b="1" lang="en-US" sz="2400" spc="-7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API</a:t>
            </a:r>
            <a:endParaRPr b="0" lang="en-IN" sz="2400" spc="-1" strike="noStrike">
              <a:latin typeface="Arial"/>
            </a:endParaRPr>
          </a:p>
          <a:p>
            <a:pPr marL="12600"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a child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terminates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stops,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kernel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generate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SIGCHLD signal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its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Depending 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how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sets 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handling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SIGCHLD signal, 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different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events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may</a:t>
            </a:r>
            <a:r>
              <a:rPr b="0" lang="en-US" sz="2400" spc="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occur: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299880" indent="-299880" algn="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  <a:tabLst>
                <a:tab algn="l" pos="29988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accepts the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default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action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SIGCHLD</a:t>
            </a:r>
            <a:r>
              <a:rPr b="0" lang="en-US" sz="2400" spc="-12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signal:</a:t>
            </a:r>
            <a:endParaRPr b="0" lang="en-IN" sz="2400" spc="-1" strike="noStrike">
              <a:latin typeface="Arial"/>
            </a:endParaRPr>
          </a:p>
          <a:p>
            <a:pPr lvl="1" marL="343080" indent="-343080" algn="r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430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SIGCHLD does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not terminate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parent</a:t>
            </a:r>
            <a:r>
              <a:rPr b="0" lang="en-US" sz="2400" spc="-6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 lvl="1" marL="1270080" indent="-34344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80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awakened.</a:t>
            </a:r>
            <a:endParaRPr b="0" lang="en-IN" sz="2400" spc="-1" strike="noStrike">
              <a:latin typeface="Arial"/>
            </a:endParaRPr>
          </a:p>
          <a:p>
            <a:pPr lvl="1" marL="1270080" indent="-34344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8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API 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child’s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exit status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parent.</a:t>
            </a:r>
            <a:endParaRPr b="0" lang="en-IN" sz="2400" spc="-1" strike="noStrike">
              <a:latin typeface="Arial"/>
            </a:endParaRPr>
          </a:p>
          <a:p>
            <a:pPr lvl="1" marL="1270080" indent="-34344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80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Kernel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clear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up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Table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slot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allocated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child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400" spc="-1" strike="noStrike">
              <a:latin typeface="Arial"/>
            </a:endParaRPr>
          </a:p>
          <a:p>
            <a:pPr lvl="1" marL="1270080" indent="-34344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80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waitpid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repeatedly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wait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each child it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created.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ftr" idx="66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67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8933F5D7-16BA-4E19-AE77-17778996EC2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299" name="object 4"/>
          <p:cNvSpPr/>
          <p:nvPr/>
        </p:nvSpPr>
        <p:spPr>
          <a:xfrm>
            <a:off x="234360" y="340920"/>
            <a:ext cx="11253240" cy="59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480" bIns="0" anchor="t">
            <a:spAutoFit/>
          </a:bodyPr>
          <a:p>
            <a:pPr marL="12600">
              <a:lnSpc>
                <a:spcPct val="100000"/>
              </a:lnSpc>
              <a:spcBef>
                <a:spcPts val="689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0"/>
              </a:spcBef>
              <a:buNone/>
            </a:pP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THE </a:t>
            </a:r>
            <a:r>
              <a:rPr b="1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SIGCHLD SIGNAL AND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THE waitpid</a:t>
            </a:r>
            <a:r>
              <a:rPr b="1" lang="en-US" sz="2400" spc="-14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API</a:t>
            </a:r>
            <a:endParaRPr b="0" lang="en-IN" sz="2400" spc="-1" strike="noStrike">
              <a:latin typeface="Arial"/>
            </a:endParaRPr>
          </a:p>
          <a:p>
            <a:pPr marL="744840" indent="-275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StarSymbol"/>
              <a:buAutoNum type="arabicPeriod" startAt="2"/>
              <a:tabLst>
                <a:tab algn="l" pos="745560"/>
              </a:tabLst>
            </a:pP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</a:rPr>
              <a:t>ignores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SIGCHLD</a:t>
            </a:r>
            <a:r>
              <a:rPr b="0" lang="en-US" sz="22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signal: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SIGCHLD signal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will be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discarded.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not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disturbed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even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if it is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executing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waitpid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</a:rPr>
              <a:t>system</a:t>
            </a:r>
            <a:r>
              <a:rPr b="0" lang="en-US" sz="2200" spc="16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call.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If the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calls the waitpid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API, the API will suspend the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until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all its child 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processes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have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terminated.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Child process table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slots will be cleared up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by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kernel.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API will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return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 -1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value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parent</a:t>
            </a:r>
            <a:r>
              <a:rPr b="0" lang="en-US" sz="22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process.</a:t>
            </a:r>
            <a:endParaRPr b="0" lang="en-IN" sz="2200" spc="-1" strike="noStrike">
              <a:latin typeface="Arial"/>
            </a:endParaRPr>
          </a:p>
          <a:p>
            <a:pPr marL="744840" indent="-275760">
              <a:lnSpc>
                <a:spcPct val="100000"/>
              </a:lnSpc>
              <a:buClr>
                <a:srgbClr val="000000"/>
              </a:buClr>
              <a:buFont typeface="StarSymbol"/>
              <a:buAutoNum type="arabicPeriod" startAt="2"/>
              <a:tabLst>
                <a:tab algn="l" pos="74556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</a:rPr>
              <a:t>catches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SIGCHLD</a:t>
            </a:r>
            <a:r>
              <a:rPr b="0" lang="en-US" sz="2200" spc="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signal: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The signal handler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function will be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called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in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whenever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 child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 terminates.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If 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SIGCHLD arrives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while the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executing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waitpid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call,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waitpid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API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may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restarted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collect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the child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exit status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and clear its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table 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slots.</a:t>
            </a:r>
            <a:endParaRPr b="0" lang="en-IN" sz="2200" spc="-1" strike="noStrike">
              <a:latin typeface="Arial"/>
            </a:endParaRPr>
          </a:p>
          <a:p>
            <a:pPr lvl="1" marL="1269360" indent="-34308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127008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Depending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on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setup, the API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may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aborted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and child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table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slot not 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freed.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56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000000"/>
                </a:solidFill>
                <a:latin typeface="Calibri"/>
              </a:rPr>
              <a:t>The sigsetjmp and siglongjmp APIs: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sigsetjmp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and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siglongjmp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APIs have similar functions as their corresponding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setjmp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and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longjmp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APIs.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These are used to transfer control from one function to another hence they are called non-local goto statements. The function prototype of these functions are: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#include &lt;setjmp.h&gt;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int     sigsetjmp(sigjmp_buf 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jmpb, int save_sigmask );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void  longjmp(sigjmp_buf 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jmpb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int retval)</a:t>
            </a:r>
            <a:r>
              <a:rPr b="1" lang="en-US" sz="2800" spc="-1" strike="noStrike" u="heavy">
                <a:solidFill>
                  <a:srgbClr val="000000"/>
                </a:solidFill>
                <a:uFillTx/>
                <a:latin typeface="Calibri"/>
              </a:rPr>
              <a:t>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511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sigsetjmp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behaves similarly to 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setjmp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APIs, except that it has a second argument,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save_sigmask,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which allows a user to specify whether a calling process signal mask should be saved to the provided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env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argument.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Similarly 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siglongjmp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does all the operations as 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longjmp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API, but it also restores a calling process signal mask if the mask was saved in its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env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argument.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retval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argument specifies the return value of the corresponding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sigsetjmp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API when it is called by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siglongjmp. 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It value should be a non-zero number, if it is zero 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siglongjmp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API will reset it to 1.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IN" sz="2400" spc="-1" strike="noStrike">
                <a:solidFill>
                  <a:srgbClr val="000000"/>
                </a:solidFill>
                <a:latin typeface="Calibri"/>
              </a:rPr>
              <a:t>siglongjmp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 API is usually called from user defined signal handling functions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ftr" idx="68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9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870E4742-6114-4330-9DC0-0BA4B358EF8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08" name="object 4"/>
          <p:cNvSpPr/>
          <p:nvPr/>
        </p:nvSpPr>
        <p:spPr>
          <a:xfrm>
            <a:off x="234360" y="844560"/>
            <a:ext cx="10888560" cy="57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120" bIns="0" anchor="t">
            <a:spAutoFit/>
          </a:bodyPr>
          <a:p>
            <a:pPr marL="12600">
              <a:lnSpc>
                <a:spcPct val="100000"/>
              </a:lnSpc>
              <a:spcBef>
                <a:spcPts val="686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0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abort() Function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abort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function causes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abnormal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program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termination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8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&lt;stdlib.h&gt; 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void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abort(void);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This 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never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returns.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This function sends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SIGABRT signal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caller.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should not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signal.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ISO C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states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abort 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deliver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unsuccessful termination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notification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  <a:tabLst>
                <a:tab algn="l" pos="363348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host environment</a:t>
            </a:r>
            <a:r>
              <a:rPr b="0" lang="en-US" sz="2400" spc="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raise(SIGABRT).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ftr" idx="70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71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CF83B761-6317-4EBC-B77C-368C98A2BA97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13" name="object 4"/>
          <p:cNvSpPr/>
          <p:nvPr/>
        </p:nvSpPr>
        <p:spPr>
          <a:xfrm>
            <a:off x="364680" y="394560"/>
            <a:ext cx="11317320" cy="57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480" bIns="0" anchor="t">
            <a:spAutoFit/>
          </a:bodyPr>
          <a:p>
            <a:pPr marL="12600">
              <a:lnSpc>
                <a:spcPct val="100000"/>
              </a:lnSpc>
              <a:spcBef>
                <a:spcPts val="689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0"/>
              </a:spcBef>
              <a:buNone/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system()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Function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 &lt;stdlib.h&gt;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 system(const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char *command);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This function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-1 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error.</a:t>
            </a:r>
            <a:endParaRPr b="0" lang="en-IN" sz="2400" spc="-1" strike="noStrike">
              <a:latin typeface="Arial"/>
            </a:endParaRPr>
          </a:p>
          <a:p>
            <a:pPr marL="12600" indent="687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If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value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</a:rPr>
              <a:t>command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NULL,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()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nonzero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if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shell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available,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zero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not.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12600" indent="68760"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() executes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command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</a:rPr>
              <a:t>command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/bin/sh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-c 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</a:rPr>
              <a:t>command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returns after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command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has been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completed.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During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execution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400" spc="-1" strike="noStrike">
              <a:latin typeface="Arial"/>
            </a:endParaRPr>
          </a:p>
          <a:p>
            <a:pPr marL="12600" indent="687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command,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SIGCHLD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blocked,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SIGINT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SIGQUIT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400" spc="-9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ignored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12600" indent="687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Eg: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system(“ls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–l”);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ftr" idx="72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73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3D89E9D3-8E2C-41FD-83AA-A87D875EEE3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18" name="object 4"/>
          <p:cNvSpPr/>
          <p:nvPr/>
        </p:nvSpPr>
        <p:spPr>
          <a:xfrm>
            <a:off x="364680" y="440280"/>
            <a:ext cx="8418960" cy="56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480" bIns="0" anchor="t">
            <a:spAutoFit/>
          </a:bodyPr>
          <a:p>
            <a:pPr marL="12600">
              <a:lnSpc>
                <a:spcPct val="100000"/>
              </a:lnSpc>
              <a:spcBef>
                <a:spcPts val="689"/>
              </a:spcBef>
              <a:buNone/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SIGNALS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0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sleep() Function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sleep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sleep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specified number of</a:t>
            </a:r>
            <a:r>
              <a:rPr b="0" lang="en-US" sz="24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seconds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#include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&lt;unistd.h&gt;</a:t>
            </a: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unsigned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sleep(unsigned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</a:rPr>
              <a:t>int</a:t>
            </a:r>
            <a:r>
              <a:rPr b="1" lang="en-US" sz="2400" spc="9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seconds);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</a:rPr>
              <a:t>Returns: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0 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number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</a:rPr>
              <a:t>unslept</a:t>
            </a:r>
            <a:r>
              <a:rPr b="1" lang="en-US" sz="2400" spc="-6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seconds.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This function causes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calling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 suspended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until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either</a:t>
            </a:r>
            <a:endParaRPr b="0" lang="en-IN" sz="2400" spc="-1" strike="noStrike">
              <a:latin typeface="Arial"/>
            </a:endParaRPr>
          </a:p>
          <a:p>
            <a:pPr marL="311760" indent="-2998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  <a:tabLst>
                <a:tab algn="l" pos="3124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amount of wall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clock time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 seconds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has</a:t>
            </a:r>
            <a:r>
              <a:rPr b="0" lang="en-US" sz="2400" spc="-7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elapsed.</a:t>
            </a:r>
            <a:endParaRPr b="0" lang="en-IN" sz="2400" spc="-1" strike="noStrike">
              <a:latin typeface="Arial"/>
            </a:endParaRPr>
          </a:p>
          <a:p>
            <a:pPr marL="311760" indent="-29988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  <a:tabLst>
                <a:tab algn="l" pos="31248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caught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signal handler</a:t>
            </a:r>
            <a:r>
              <a:rPr b="0" lang="en-US" sz="2400" spc="-8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returns.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312480"/>
              </a:tabLst>
            </a:pPr>
            <a:endParaRPr b="0" lang="en-IN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31248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Eg:</a:t>
            </a:r>
            <a:endParaRPr b="0" lang="en-IN" sz="2200" spc="-1" strike="noStrike">
              <a:latin typeface="Arial"/>
            </a:endParaRPr>
          </a:p>
          <a:p>
            <a:pPr marL="76320">
              <a:lnSpc>
                <a:spcPct val="100000"/>
              </a:lnSpc>
              <a:buNone/>
              <a:tabLst>
                <a:tab algn="l" pos="31248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sleep(60);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// suspend 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one</a:t>
            </a:r>
            <a:r>
              <a:rPr b="0" lang="en-US" sz="2200" spc="5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minute.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56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 u="heavy">
                <a:solidFill>
                  <a:srgbClr val="000000"/>
                </a:solidFill>
                <a:uFillTx/>
                <a:latin typeface="Calibri"/>
              </a:rPr>
              <a:t>Interval timers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know that, sleep( ) API is constructed using the alarm( ) and pause( ) APIs.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But sleep( ) API just suspends a process for a fixed amount of time.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Other than this, the alarm( ) API can also be used to set up an interval timer.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interval timer is used to schedule a process to do some tasks at a fixed time interval.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#include &lt;sys/time.h&gt;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int getitimer(int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which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, struct itimerval *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value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);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br/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int setitimer(int 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which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, const struct itimerval *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value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, struct itimerval *</a:t>
            </a:r>
            <a:r>
              <a:rPr b="0" i="1" lang="en-IN" sz="2800" spc="-1" strike="noStrike">
                <a:solidFill>
                  <a:srgbClr val="000000"/>
                </a:solidFill>
                <a:latin typeface="Calibri"/>
              </a:rPr>
              <a:t>ovalue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);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47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struct itimerval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{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struct timeval it_interval; /* next value */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struct timeval it_value; /* current value */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};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struct timeval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long tv_sec; /* seconds */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long tv_usec; /* microseconds */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};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42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25" name="Table 3"/>
          <p:cNvGraphicFramePr/>
          <p:nvPr/>
        </p:nvGraphicFramePr>
        <p:xfrm>
          <a:off x="380880" y="1092960"/>
          <a:ext cx="11048760" cy="4240800"/>
        </p:xfrm>
        <a:graphic>
          <a:graphicData uri="http://schemas.openxmlformats.org/drawingml/2006/table">
            <a:tbl>
              <a:tblPr/>
              <a:tblGrid>
                <a:gridCol w="2761920"/>
                <a:gridCol w="8286840"/>
              </a:tblGrid>
              <a:tr h="371160">
                <a:tc>
                  <a:txBody>
                    <a:bodyPr lIns="47520" rIns="47520" tIns="47520" bIns="475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IN" sz="1800" spc="-1" strike="noStrike">
                          <a:latin typeface="Calibri"/>
                        </a:rPr>
                        <a:t>Tag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47520" rIns="47520" tIns="47520" bIns="475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IN" sz="1800" spc="-1" strike="noStrike">
                          <a:latin typeface="Calibri"/>
                        </a:rPr>
                        <a:t>Description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eeeeee"/>
                    </a:solidFill>
                  </a:tcPr>
                </a:tc>
              </a:tr>
              <a:tr h="646560">
                <a:tc>
                  <a:txBody>
                    <a:bodyPr lIns="47520" rIns="47520" tIns="47520" bIns="475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IN" sz="1800" spc="-1" strike="noStrike">
                          <a:latin typeface="Calibri"/>
                        </a:rPr>
                        <a:t>ITIMER_REAL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lIns="47520" rIns="47520" tIns="47520" bIns="4752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IN" sz="1800" spc="-1" strike="noStrike">
                          <a:latin typeface="Calibri"/>
                        </a:rPr>
                        <a:t>decrements in real time, and delivers </a:t>
                      </a:r>
                      <a:r>
                        <a:rPr b="1" lang="en-IN" sz="1800" spc="-1" strike="noStrike">
                          <a:latin typeface="Calibri"/>
                        </a:rPr>
                        <a:t>SIGALRM</a:t>
                      </a:r>
                      <a:r>
                        <a:rPr b="0" lang="en-IN" sz="1800" spc="-1" strike="noStrike">
                          <a:latin typeface="Calibri"/>
                        </a:rPr>
                        <a:t> upon expiration.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b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922320">
                <a:tc>
                  <a:txBody>
                    <a:bodyPr lIns="47520" rIns="47520" tIns="47520" bIns="475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IN" sz="1800" spc="-1" strike="noStrike">
                          <a:latin typeface="Calibri"/>
                        </a:rPr>
                        <a:t>ITIMER_VIRTUAL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lIns="47520" rIns="47520" tIns="47520" bIns="4752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IN" sz="1800" spc="-1" strike="noStrike">
                          <a:latin typeface="Calibri"/>
                        </a:rPr>
                        <a:t>decrements only when the process is executing, and delivers </a:t>
                      </a:r>
                      <a:r>
                        <a:rPr b="1" lang="en-IN" sz="1800" spc="-1" strike="noStrike">
                          <a:latin typeface="Calibri"/>
                        </a:rPr>
                        <a:t>SIGVTALRM</a:t>
                      </a:r>
                      <a:r>
                        <a:rPr b="0" lang="en-IN" sz="1800" spc="-1" strike="noStrike">
                          <a:latin typeface="Calibri"/>
                        </a:rPr>
                        <a:t> upon expiration.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b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2300760">
                <a:tc>
                  <a:txBody>
                    <a:bodyPr lIns="47520" rIns="47520" tIns="47520" bIns="475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IN" sz="1800" spc="-1" strike="noStrike">
                          <a:latin typeface="Calibri"/>
                        </a:rPr>
                        <a:t>ITIMER_PROF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lIns="47520" rIns="47520" tIns="47520" bIns="4752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IN" sz="1800" spc="-1" strike="noStrike">
                          <a:latin typeface="Calibri"/>
                        </a:rPr>
                        <a:t>decrements both when the process executes and when the system is executing on behalf of the process. Coupled with </a:t>
                      </a:r>
                      <a:r>
                        <a:rPr b="1" lang="en-IN" sz="1800" spc="-1" strike="noStrike">
                          <a:latin typeface="Calibri"/>
                        </a:rPr>
                        <a:t>ITIMER_VIRTUAL</a:t>
                      </a:r>
                      <a:r>
                        <a:rPr b="0" lang="en-IN" sz="1800" spc="-1" strike="noStrike">
                          <a:latin typeface="Calibri"/>
                        </a:rPr>
                        <a:t>, this timer is usually used to profile the time spent by the application in user and kernel space. </a:t>
                      </a:r>
                      <a:r>
                        <a:rPr b="1" lang="en-IN" sz="1800" spc="-1" strike="noStrike">
                          <a:latin typeface="Calibri"/>
                        </a:rPr>
                        <a:t>SIGPROF</a:t>
                      </a:r>
                      <a:r>
                        <a:rPr b="0" lang="en-IN" sz="1800" spc="-1" strike="noStrike">
                          <a:latin typeface="Calibri"/>
                        </a:rPr>
                        <a:t> is delivered upon expiration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b" marL="47520" marR="47520">
                    <a:lnL w="9360">
                      <a:solidFill>
                        <a:srgbClr val="d6d6d6"/>
                      </a:solidFill>
                    </a:lnL>
                    <a:lnR w="9360">
                      <a:solidFill>
                        <a:srgbClr val="d6d6d6"/>
                      </a:solidFill>
                    </a:lnR>
                    <a:lnT w="9360">
                      <a:solidFill>
                        <a:srgbClr val="d6d6d6"/>
                      </a:solidFill>
                    </a:lnT>
                    <a:lnB w="9360">
                      <a:solidFill>
                        <a:srgbClr val="d6d6d6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17365d"/>
                </a:solidFill>
                <a:latin typeface="Cambria"/>
              </a:rPr>
              <a:t>Sample questions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517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 is signal API? Explain the various signal names and their purpose.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 is signalmask? Explain with the syntax and a sample program.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Explain the sigaction( ) function.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Explain the various ways in which a parent can handle different signals when a child process terminates or stops.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 the syntax, explain the concept of sigsetjmp ( ) &amp; siglongjmp ( ) functions.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Explain the kill and alarm API with syntax.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Write a note on interval times.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Explain the various signal sets with the sytax.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Explain the sleep and abort API with syntax.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7365d"/>
                </a:solidFill>
                <a:latin typeface="Cambria"/>
              </a:rPr>
              <a:t>DAEMON PROCESSES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41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572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Introduction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Daemon characteristics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Coding rules for creating daemons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Error Logging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 indent="-4572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Client – Server Model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ftr" idx="74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33" name="object 6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280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4" name="object 4"/>
          <p:cNvSpPr/>
          <p:nvPr/>
        </p:nvSpPr>
        <p:spPr>
          <a:xfrm>
            <a:off x="364680" y="932040"/>
            <a:ext cx="11465280" cy="29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70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processes that live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long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time.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often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started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bootstrapped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terminate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only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when the 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shut down.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Because they don't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controlling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terminal,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that they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 in the</a:t>
            </a:r>
            <a:r>
              <a:rPr b="0" lang="en-US" sz="24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background.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205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UNIX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systems have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numerous daemons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that perform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day-to-day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activities.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7" name="object 4"/>
          <p:cNvSpPr/>
          <p:nvPr/>
        </p:nvSpPr>
        <p:spPr>
          <a:xfrm>
            <a:off x="387000" y="642600"/>
            <a:ext cx="3501000" cy="14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Deamon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 Characteristics</a:t>
            </a:r>
            <a:endParaRPr b="0" lang="en-IN" sz="28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70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$ps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-axj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38" name="object 5"/>
          <p:cNvSpPr/>
          <p:nvPr/>
        </p:nvSpPr>
        <p:spPr>
          <a:xfrm>
            <a:off x="4343400" y="1066680"/>
            <a:ext cx="7145640" cy="4916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PlaceHolder 2"/>
          <p:cNvSpPr>
            <a:spLocks noGrp="1"/>
          </p:cNvSpPr>
          <p:nvPr>
            <p:ph type="ftr" idx="75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76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70FDE04D-A0F9-4B29-ACB7-1C7916E38842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ftr" idx="7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78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BF720841-C767-40D3-91B8-2D94692E7211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45" name="object 4"/>
          <p:cNvSpPr/>
          <p:nvPr/>
        </p:nvSpPr>
        <p:spPr>
          <a:xfrm>
            <a:off x="364680" y="688320"/>
            <a:ext cx="5501880" cy="34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Deamon</a:t>
            </a:r>
            <a:r>
              <a:rPr b="1" lang="en-US" sz="28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Characteristics</a:t>
            </a:r>
            <a:endParaRPr b="0" lang="en-IN" sz="28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70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 in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background.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super-user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privilege.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Daemons don’t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controlling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terminal.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205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session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group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leaders.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ftr" idx="7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80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E8719D64-1DC0-4497-A628-9996C0FF475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50" name="object 4"/>
          <p:cNvSpPr/>
          <p:nvPr/>
        </p:nvSpPr>
        <p:spPr>
          <a:xfrm>
            <a:off x="237600" y="670680"/>
            <a:ext cx="11467080" cy="42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Deamon</a:t>
            </a:r>
            <a:r>
              <a:rPr b="1" lang="en-US" sz="28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Characteristics</a:t>
            </a:r>
            <a:endParaRPr b="0" lang="en-IN" sz="28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111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Anything with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0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usually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kernel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started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part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bootstrap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procedure.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Kernel processes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generally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exist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entire lifetime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4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 with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superuser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privileges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no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controlling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terminal and no command  line.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  <a:tab algn="l" pos="208404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Process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1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usually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init.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  <a:tab algn="l" pos="676800"/>
                <a:tab algn="l" pos="1009080"/>
                <a:tab algn="l" pos="1299240"/>
                <a:tab algn="l" pos="2301840"/>
                <a:tab algn="l" pos="3467880"/>
                <a:tab algn="l" pos="5038200"/>
                <a:tab algn="l" pos="5584680"/>
                <a:tab algn="l" pos="6581880"/>
                <a:tab algn="l" pos="7406640"/>
                <a:tab algn="l" pos="8380080"/>
                <a:tab algn="l" pos="9464040"/>
                <a:tab algn="l" pos="1046664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emon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esponsible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400" spc="-21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among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vices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specific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various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levels.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ftr" idx="81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82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02140A75-8C50-424B-AC43-FEAF574F7643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55" name="object 4"/>
          <p:cNvSpPr/>
          <p:nvPr/>
        </p:nvSpPr>
        <p:spPr>
          <a:xfrm>
            <a:off x="237600" y="397800"/>
            <a:ext cx="11467800" cy="51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Deamon</a:t>
            </a:r>
            <a:r>
              <a:rPr b="1" lang="en-US" sz="2800" spc="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Characteristics</a:t>
            </a:r>
            <a:endParaRPr b="0" lang="en-IN" sz="28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75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keventd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provides 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context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running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scheduled functions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 the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kernel.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kswapd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also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known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pageout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It supports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virtual memory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subsystem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writing dirty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pages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disk slowly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over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time,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pages 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reclaimed.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355680"/>
                <a:tab algn="l" pos="972720"/>
                <a:tab algn="l" pos="1769760"/>
                <a:tab algn="l" pos="2949480"/>
                <a:tab algn="l" pos="4060800"/>
                <a:tab algn="l" pos="5003280"/>
                <a:tab algn="l" pos="5479920"/>
                <a:tab algn="l" pos="6051600"/>
                <a:tab algn="l" pos="7251120"/>
                <a:tab algn="l" pos="8439840"/>
                <a:tab algn="l" pos="9814680"/>
                <a:tab algn="l" pos="103237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emon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x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li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66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em's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w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ac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omi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requests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various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servers.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nfsd, lockd,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rpciod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daemons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provide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support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Network File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(NFS).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cron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(crond)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executes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commands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specified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dates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and times.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Numerous 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administration tasks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handled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 having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</a:rPr>
              <a:t>programs executed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regularly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cron.</a:t>
            </a:r>
            <a:endParaRPr b="0" lang="en-IN" sz="2400" spc="-1" strike="noStrike">
              <a:latin typeface="Arial"/>
            </a:endParaRPr>
          </a:p>
          <a:p>
            <a:pPr marL="3556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35568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The cupsd daemon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print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spooler;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handles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</a:rPr>
              <a:t>print requests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</a:rPr>
              <a:t>system.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ftr" idx="83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4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64994107-D379-4E84-9E50-8CFCC7B27DC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60" name="object 4"/>
          <p:cNvSpPr/>
          <p:nvPr/>
        </p:nvSpPr>
        <p:spPr>
          <a:xfrm>
            <a:off x="364680" y="481320"/>
            <a:ext cx="11468880" cy="47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5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CODING</a:t>
            </a:r>
            <a:r>
              <a:rPr b="1" lang="en-US" sz="2800" spc="18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RULES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528480"/>
              </a:tabLst>
            </a:pPr>
            <a:r>
              <a:rPr b="1" lang="en-IN" sz="2800" spc="-7" strike="noStrike">
                <a:solidFill>
                  <a:srgbClr val="000000"/>
                </a:solidFill>
                <a:latin typeface="Calibri"/>
              </a:rPr>
              <a:t>Call </a:t>
            </a:r>
            <a:r>
              <a:rPr b="1" lang="en-IN" sz="2800" spc="-15" strike="noStrike">
                <a:solidFill>
                  <a:srgbClr val="000000"/>
                </a:solidFill>
                <a:latin typeface="Calibri"/>
              </a:rPr>
              <a:t>fork </a:t>
            </a:r>
            <a:r>
              <a:rPr b="1" lang="en-IN" sz="2800" spc="-12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1" lang="en-IN" sz="2800" spc="-21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1" lang="en-IN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1" lang="en-IN" sz="2800" spc="-12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1" lang="en-IN" sz="2800" spc="-15" strike="noStrike">
                <a:solidFill>
                  <a:srgbClr val="000000"/>
                </a:solidFill>
                <a:latin typeface="Calibri"/>
              </a:rPr>
              <a:t>exit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This does </a:t>
            </a:r>
            <a:r>
              <a:rPr b="0" lang="en-IN" sz="2800" spc="-21" strike="noStrike">
                <a:solidFill>
                  <a:srgbClr val="000000"/>
                </a:solidFill>
                <a:latin typeface="Calibri"/>
              </a:rPr>
              <a:t>several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things. </a:t>
            </a:r>
            <a:r>
              <a:rPr b="0" lang="en-IN" sz="2800" spc="-21" strike="noStrike">
                <a:solidFill>
                  <a:srgbClr val="000000"/>
                </a:solidFill>
                <a:latin typeface="Calibri"/>
              </a:rPr>
              <a:t>First, 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the 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was</a:t>
            </a:r>
            <a:r>
              <a:rPr b="0" lang="en-IN" sz="2800" spc="59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started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as a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simple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shell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command,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having 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parent  terminate </a:t>
            </a:r>
            <a:r>
              <a:rPr b="0" lang="en-IN" sz="2800" spc="-21" strike="noStrike">
                <a:solidFill>
                  <a:srgbClr val="000000"/>
                </a:solidFill>
                <a:latin typeface="Calibri"/>
              </a:rPr>
              <a:t>makes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shell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think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command is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done.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Second, the 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child inherits the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group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ID of the </a:t>
            </a:r>
            <a:r>
              <a:rPr b="0" lang="en-IN" sz="2800" spc="-21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but gets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new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IN" sz="2800" spc="-32" strike="noStrike">
                <a:solidFill>
                  <a:srgbClr val="000000"/>
                </a:solidFill>
                <a:latin typeface="Calibri"/>
              </a:rPr>
              <a:t>ID, 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so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we're guaranteed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the child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is not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 group</a:t>
            </a:r>
            <a:r>
              <a:rPr b="0" lang="en-IN" sz="2800" spc="21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46" strike="noStrike">
                <a:solidFill>
                  <a:srgbClr val="000000"/>
                </a:solidFill>
                <a:latin typeface="Calibri"/>
              </a:rPr>
              <a:t>leader.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528480"/>
              </a:tabLst>
            </a:pP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Call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umask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set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file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mode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creation mask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0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The file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mode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creation 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mask that's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inherited could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set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deny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certain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permissions. If the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</a:t>
            </a:r>
            <a:r>
              <a:rPr b="0" lang="en-US" sz="2800" spc="59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going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create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files, it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may want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to set specific  permissions.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object 2"/>
          <p:cNvSpPr/>
          <p:nvPr/>
        </p:nvSpPr>
        <p:spPr>
          <a:xfrm>
            <a:off x="364680" y="61560"/>
            <a:ext cx="11468880" cy="55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ts val="3328"/>
              </a:lnSpc>
              <a:spcBef>
                <a:spcPts val="96"/>
              </a:spcBef>
              <a:buNone/>
              <a:tabLst>
                <a:tab algn="l" pos="3417480"/>
              </a:tabLst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9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US" sz="2800" spc="6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ts val="3328"/>
              </a:lnSpc>
              <a:buNone/>
              <a:tabLst>
                <a:tab algn="l" pos="3417480"/>
              </a:tabLst>
            </a:pP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CODING</a:t>
            </a:r>
            <a:r>
              <a:rPr b="1" lang="en-US" sz="2800" spc="29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RULES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eriod" startAt="3"/>
              <a:tabLst>
                <a:tab algn="l" pos="52848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Call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setsid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to create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new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session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. 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(a)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becomes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session  leader of a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new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session,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(b)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becomes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group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leader of 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new  process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group,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(c)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has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no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controlling</a:t>
            </a:r>
            <a:r>
              <a:rPr b="0" lang="en-US" sz="2800" spc="16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terminal.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StarSymbol"/>
              <a:buAutoNum type="arabicPeriod" startAt="3"/>
              <a:tabLst>
                <a:tab algn="l" pos="528480"/>
              </a:tabLst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Change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current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working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directory to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root directory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current  working directory inherited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parent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could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mounted file 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system.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Since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daemons normally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exist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until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32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is rebooted,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the  daemon </a:t>
            </a:r>
            <a:r>
              <a:rPr b="0" lang="en-US" sz="2800" spc="-32" strike="noStrike">
                <a:solidFill>
                  <a:srgbClr val="000000"/>
                </a:solidFill>
                <a:latin typeface="Calibri"/>
              </a:rPr>
              <a:t>stays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on a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mounted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file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system,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file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system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cannot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be  unmounted.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StarSymbol"/>
              <a:buAutoNum type="arabicPeriod" startAt="3"/>
              <a:tabLst>
                <a:tab algn="l" pos="528480"/>
              </a:tabLst>
            </a:pP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Unneeded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file descriptors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should be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closed.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This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prevents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800" spc="34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daemon 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holding open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any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descriptors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that it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may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inherited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its 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parent.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ftr" idx="85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86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ACD8C0BC-51C0-4319-89BD-E8E73BC3241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object 2"/>
          <p:cNvSpPr/>
          <p:nvPr/>
        </p:nvSpPr>
        <p:spPr>
          <a:xfrm>
            <a:off x="3770280" y="61560"/>
            <a:ext cx="62107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US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ftr" idx="8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sldNum" idx="88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3008FC56-8381-4D7E-B483-EBCB9DA1773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67" name="object 3"/>
          <p:cNvSpPr/>
          <p:nvPr/>
        </p:nvSpPr>
        <p:spPr>
          <a:xfrm>
            <a:off x="364680" y="267840"/>
            <a:ext cx="315504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5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CODING</a:t>
            </a:r>
            <a:r>
              <a:rPr b="1" lang="en-US" sz="2800" spc="18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RULES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68" name="object 4"/>
          <p:cNvSpPr/>
          <p:nvPr/>
        </p:nvSpPr>
        <p:spPr>
          <a:xfrm>
            <a:off x="364680" y="1121760"/>
            <a:ext cx="11466360" cy="51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27760" indent="-51552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6. Some daemons open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file descriptors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0,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1,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2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to /dev/null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so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that </a:t>
            </a:r>
            <a:r>
              <a:rPr b="1" lang="en-US" sz="2800" spc="-21" strike="noStrike">
                <a:solidFill>
                  <a:srgbClr val="000000"/>
                </a:solidFill>
                <a:latin typeface="Calibri"/>
              </a:rPr>
              <a:t>any 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library routines that </a:t>
            </a:r>
            <a:r>
              <a:rPr b="1" lang="en-US" sz="2800" spc="4" strike="noStrike">
                <a:solidFill>
                  <a:srgbClr val="000000"/>
                </a:solidFill>
                <a:latin typeface="Calibri"/>
              </a:rPr>
              <a:t>try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to read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standard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input or </a:t>
            </a: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write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to standard 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output or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standard error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will </a:t>
            </a:r>
            <a:r>
              <a:rPr b="1" lang="en-US" sz="2800" spc="-21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no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effect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Since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daemon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800" spc="29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not  associated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with 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terminal device,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there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nowhere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output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be 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displayed;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nor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there anywhere to receive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input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interactive </a:t>
            </a:r>
            <a:r>
              <a:rPr b="0" lang="en-US" sz="2800" spc="-66" strike="noStrike">
                <a:solidFill>
                  <a:srgbClr val="000000"/>
                </a:solidFill>
                <a:latin typeface="Calibri"/>
              </a:rPr>
              <a:t>user. 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2800" spc="-66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6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Even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if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was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started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interactive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session,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 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runs in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background,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login session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can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terminate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without 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affecting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daemon.</a:t>
            </a:r>
            <a:endParaRPr b="0" lang="en-IN" sz="2800" spc="-1" strike="noStrike">
              <a:latin typeface="Arial"/>
            </a:endParaRPr>
          </a:p>
          <a:p>
            <a:pPr marL="527760" indent="-51552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If other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users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log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on the same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terminal device,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we 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wouldn't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want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output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showing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up on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terminal,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users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wouldn't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expect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their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input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read by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800" spc="27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Box 1"/>
          <p:cNvSpPr/>
          <p:nvPr/>
        </p:nvSpPr>
        <p:spPr>
          <a:xfrm>
            <a:off x="-10080" y="10080"/>
            <a:ext cx="5714640" cy="667404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#include 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#include &lt;stdlib.h&gt;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#include &lt;unistd.h&gt;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#include &lt;sys/types.h&gt;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#include &lt;sys/stat.h&gt;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int main(int argc, char* argv[])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{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FILE *fp= NULL;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pid_t process_id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pid_t sid = 0; // Create child process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process_id = fork(); // Indication of fork() failure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if (process_id &lt; 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{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printf("fork failed!\n"); // Return failure in exit status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exit(1);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0" name="TextBox 2"/>
          <p:cNvSpPr/>
          <p:nvPr/>
        </p:nvSpPr>
        <p:spPr>
          <a:xfrm>
            <a:off x="6451920" y="10080"/>
            <a:ext cx="5714640" cy="626256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 PARENT PROCESS. Need to kill it.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if (process_id &gt; 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printf("process_id of child process %d \n", process_id);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 return success in exit status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exit(0);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//unmask the file mode umask(0); //set new session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sid =setsid();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if(sid &lt; 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 Return failure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exit(1);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signal(SIGHUP,SIG_IGN);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Box 1"/>
          <p:cNvSpPr/>
          <p:nvPr/>
        </p:nvSpPr>
        <p:spPr>
          <a:xfrm>
            <a:off x="-10080" y="10080"/>
            <a:ext cx="5714640" cy="420516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 Change the current working directory to root.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chdir("/");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 Close stdin. stdout and stderr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close(STDIN_FILENO);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close(STDOUT_FILENO);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close(STDERR_FILENO);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 Open a log file in write mode.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fp = fopen ("Log.txt", "w+");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while (1)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{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2" name="TextBox 2"/>
          <p:cNvSpPr/>
          <p:nvPr/>
        </p:nvSpPr>
        <p:spPr>
          <a:xfrm>
            <a:off x="6451920" y="10080"/>
            <a:ext cx="5714640" cy="461664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//Dont block context switches, let the process sleep for some time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sleep(1);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fprintf(fp, "Logging info...\n");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fflush(fp); // Implement and call some function that does core work for this daemon.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}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fclose(fp);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return (0);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ftr" idx="89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90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F9D27DA6-2D6C-4E70-90AE-BD3F0739066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77" name="object 4"/>
          <p:cNvSpPr/>
          <p:nvPr/>
        </p:nvSpPr>
        <p:spPr>
          <a:xfrm>
            <a:off x="237600" y="575280"/>
            <a:ext cx="3155040" cy="12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5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 </a:t>
            </a:r>
            <a:r>
              <a:rPr b="1" lang="en-US" sz="28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CODING</a:t>
            </a:r>
            <a:r>
              <a:rPr b="1" lang="en-US" sz="2800" spc="24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RULES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Example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 Program:</a:t>
            </a:r>
            <a:endParaRPr b="0" lang="en-IN" sz="2800" spc="-1" strike="noStrike">
              <a:latin typeface="Arial"/>
            </a:endParaRPr>
          </a:p>
        </p:txBody>
      </p:sp>
      <p:graphicFrame>
        <p:nvGraphicFramePr>
          <p:cNvPr id="378" name="object 5"/>
          <p:cNvGraphicFramePr/>
          <p:nvPr/>
        </p:nvGraphicFramePr>
        <p:xfrm>
          <a:off x="365400" y="2015640"/>
          <a:ext cx="10840320" cy="4029480"/>
        </p:xfrm>
        <a:graphic>
          <a:graphicData uri="http://schemas.openxmlformats.org/drawingml/2006/table">
            <a:tbl>
              <a:tblPr/>
              <a:tblGrid>
                <a:gridCol w="5420160"/>
                <a:gridCol w="5420160"/>
              </a:tblGrid>
              <a:tr h="4408920">
                <a:tc>
                  <a:txBody>
                    <a:bodyPr lIns="0" rIns="0" tIns="2016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159"/>
                        </a:spcBef>
                        <a:buNone/>
                      </a:pP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 </a:t>
                      </a: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&lt;unistd,h&gt; 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#include</a:t>
                      </a:r>
                      <a:r>
                        <a:rPr b="1" lang="en-IN" sz="3200" spc="-97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&lt;sys/types.h&gt;  #include</a:t>
                      </a:r>
                      <a:r>
                        <a:rPr b="1" lang="en-IN" sz="3200" spc="-32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&lt;fcntl.h&gt;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int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daemon_initialise(</a:t>
                      </a:r>
                      <a:r>
                        <a:rPr b="1" lang="en-IN" sz="32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buNone/>
                      </a:pP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{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pid_t</a:t>
                      </a:r>
                      <a:r>
                        <a:rPr b="1" lang="en-IN" sz="32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pid;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551880" indent="-460440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 (( pid = </a:t>
                      </a: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fork()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 &lt;</a:t>
                      </a:r>
                      <a:r>
                        <a:rPr b="1" lang="en-IN" sz="3200" spc="-6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0)  </a:t>
                      </a: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return</a:t>
                      </a:r>
                      <a:r>
                        <a:rPr b="1" lang="en-IN" sz="32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–1;</a:t>
                      </a:r>
                      <a:endParaRPr b="0" lang="en-IN" sz="32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 lIns="0" rIns="0" tIns="20160" bIns="0" anchor="t">
                      <a:noAutofit/>
                    </a:bodyPr>
                    <a:p>
                      <a:pPr marL="92160" algn="just">
                        <a:lnSpc>
                          <a:spcPct val="100000"/>
                        </a:lnSpc>
                        <a:spcBef>
                          <a:spcPts val="159"/>
                        </a:spcBef>
                        <a:buNone/>
                      </a:pP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else if ( pid !=</a:t>
                      </a:r>
                      <a:r>
                        <a:rPr b="1" lang="en-IN" sz="3200" spc="-4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0)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461160" algn="just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</a:pP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exit(0);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3200" spc="-15" strike="noStrike">
                          <a:solidFill>
                            <a:srgbClr val="ffffff"/>
                          </a:solidFill>
                          <a:latin typeface="Calibri"/>
                        </a:rPr>
                        <a:t>parent exits</a:t>
                      </a:r>
                      <a:r>
                        <a:rPr b="1" lang="en-IN" sz="3200" spc="-111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92160" indent="91440" algn="just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/*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child continues</a:t>
                      </a:r>
                      <a:r>
                        <a:rPr b="1" lang="en-IN" sz="3200" spc="-1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*/  setsid(</a:t>
                      </a:r>
                      <a:r>
                        <a:rPr b="1" lang="en-IN" sz="32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);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92160" indent="91440" algn="just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chdi</a:t>
                      </a:r>
                      <a:r>
                        <a:rPr b="1" lang="en-IN" sz="3200" spc="9" strike="noStrike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(“/”);  </a:t>
                      </a:r>
                      <a:r>
                        <a:rPr b="1" lang="en-IN" sz="32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umask(0);  </a:t>
                      </a:r>
                      <a:r>
                        <a:rPr b="1" lang="en-IN" sz="32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return</a:t>
                      </a:r>
                      <a:r>
                        <a:rPr b="1" lang="en-IN" sz="3200" spc="-26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0;</a:t>
                      </a:r>
                      <a:endParaRPr b="0" lang="en-IN" sz="3200" spc="-1" strike="noStrike">
                        <a:latin typeface="Arial"/>
                      </a:endParaRPr>
                    </a:p>
                    <a:p>
                      <a:pPr marL="92160" indent="91440">
                        <a:lnSpc>
                          <a:spcPct val="100000"/>
                        </a:lnSpc>
                        <a:spcBef>
                          <a:spcPts val="6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1" lang="en-IN" sz="3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}</a:t>
                      </a:r>
                      <a:endParaRPr b="0" lang="en-IN" sz="32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3831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ftr" idx="91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92"/>
          </p:nvPr>
        </p:nvSpPr>
        <p:spPr>
          <a:xfrm>
            <a:off x="10891800" y="6575400"/>
            <a:ext cx="2563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560">
              <a:lnSpc>
                <a:spcPts val="11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25560">
              <a:lnSpc>
                <a:spcPts val="1100"/>
              </a:lnSpc>
              <a:buNone/>
            </a:pPr>
            <a:fld id="{EA4284A3-02D5-46BB-BAE7-BFBAF5693D37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4279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728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Tx/>
                <a:latin typeface="Calibri"/>
              </a:rPr>
              <a:t>DAEMON</a:t>
            </a:r>
            <a:r>
              <a:rPr b="1" lang="en-US" sz="2800" spc="-7" strike="noStrike" u="heavy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Tx/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1728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Error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Logging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7448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73760"/>
                <a:tab algn="l" pos="47448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One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problem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daemon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has is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how to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handle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error</a:t>
            </a:r>
            <a:r>
              <a:rPr b="0" lang="en-US" sz="2800" spc="23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messages.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7448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73760"/>
                <a:tab algn="l" pos="47448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can't simply write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standard </a:t>
            </a:r>
            <a:r>
              <a:rPr b="0" lang="en-US" sz="2800" spc="-55" strike="noStrike">
                <a:solidFill>
                  <a:srgbClr val="000000"/>
                </a:solidFill>
                <a:latin typeface="Calibri"/>
              </a:rPr>
              <a:t>error,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since it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shouldn't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have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controlling </a:t>
            </a:r>
            <a:r>
              <a:rPr b="0" lang="en-US" sz="2800" spc="59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terminal.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7448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73760"/>
                <a:tab algn="l" pos="474480"/>
              </a:tabLst>
            </a:pPr>
            <a:r>
              <a:rPr b="0" lang="en-US" sz="2800" spc="-60" strike="noStrike">
                <a:solidFill>
                  <a:srgbClr val="000000"/>
                </a:solidFill>
                <a:latin typeface="Calibri"/>
              </a:rPr>
              <a:t>We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don't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want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all 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writing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console device,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since</a:t>
            </a:r>
            <a:r>
              <a:rPr b="0" lang="en-US" sz="2800" spc="27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17280">
              <a:lnSpc>
                <a:spcPct val="100000"/>
              </a:lnSpc>
              <a:spcBef>
                <a:spcPts val="6"/>
              </a:spcBef>
              <a:buNone/>
              <a:tabLst>
                <a:tab algn="l" pos="473760"/>
                <a:tab algn="l" pos="474480"/>
              </a:tabLst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     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many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workstations,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console device runs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windowing</a:t>
            </a:r>
            <a:r>
              <a:rPr b="0" lang="en-US" sz="2800" spc="19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system.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7448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73760"/>
                <a:tab algn="l" pos="474480"/>
                <a:tab algn="l" pos="1095840"/>
                <a:tab algn="l" pos="1819800"/>
                <a:tab algn="l" pos="2722320"/>
                <a:tab algn="l" pos="3589560"/>
                <a:tab algn="l" pos="4419000"/>
                <a:tab algn="l" pos="5753880"/>
                <a:tab algn="l" pos="6912000"/>
                <a:tab algn="l" pos="7395840"/>
                <a:tab algn="l" pos="8166600"/>
                <a:tab algn="l" pos="9039960"/>
                <a:tab algn="l" pos="10575360"/>
                <a:tab algn="l" pos="11288520"/>
              </a:tabLst>
            </a:pPr>
            <a:r>
              <a:rPr b="0" lang="en-US" sz="2800" spc="-114" strike="noStrike">
                <a:solidFill>
                  <a:srgbClr val="000000"/>
                </a:solidFill>
                <a:latin typeface="Calibri"/>
              </a:rPr>
              <a:t>W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also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'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w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writing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its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wn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er</a:t>
            </a:r>
            <a:r>
              <a:rPr b="0" lang="en-US" sz="2800" spc="-60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essa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32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35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separate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file.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74480" indent="-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473760"/>
                <a:tab algn="l" pos="47448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central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 errorlogging facility is</a:t>
            </a:r>
            <a:r>
              <a:rPr b="0" lang="en-US" sz="2800" spc="8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required.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430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1.SVR4 Streams log Driver::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SVR4 provides a streams device driver, with an interface for streams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error logging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streams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event tracing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and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console logging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Each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log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message can be routed to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one of three loggers: the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error logger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the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trace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logger,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console logger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There are three ways to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generate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log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messages and three ways to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read them.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ftr" idx="93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389" name="object 7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290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0" name="object 5"/>
          <p:cNvSpPr/>
          <p:nvPr/>
        </p:nvSpPr>
        <p:spPr>
          <a:xfrm>
            <a:off x="237600" y="754920"/>
            <a:ext cx="3155040" cy="12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4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Error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Logging SVR4 stream ‘log’ driver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391" name="Picture 7" descr=""/>
          <p:cNvPicPr/>
          <p:nvPr/>
        </p:nvPicPr>
        <p:blipFill>
          <a:blip r:embed="rId1"/>
          <a:stretch/>
        </p:blipFill>
        <p:spPr>
          <a:xfrm>
            <a:off x="3200400" y="484200"/>
            <a:ext cx="8762760" cy="530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326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 u="heavy">
                <a:solidFill>
                  <a:srgbClr val="000000"/>
                </a:solidFill>
                <a:uFillTx/>
                <a:latin typeface="Calibri"/>
              </a:rPr>
              <a:t>Generating log messages: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 u="heavy">
                <a:solidFill>
                  <a:srgbClr val="000000"/>
                </a:solidFill>
                <a:uFillTx/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en-US" sz="1800" spc="-1" strike="noStrike">
                <a:latin typeface="Calibri"/>
              </a:rPr>
              <a:t>Routines within the kernel can call </a:t>
            </a:r>
            <a:r>
              <a:rPr b="0" i="1" lang="en-US" sz="1800" spc="-1" strike="noStrike">
                <a:latin typeface="Calibri"/>
              </a:rPr>
              <a:t>strlog</a:t>
            </a:r>
            <a:r>
              <a:rPr b="0" lang="en-US" sz="1800" spc="-1" strike="noStrike">
                <a:latin typeface="Calibri"/>
              </a:rPr>
              <a:t> to</a:t>
            </a:r>
            <a:r>
              <a:rPr b="0" i="1" lang="en-US" sz="1800" spc="-1" strike="noStrike">
                <a:latin typeface="Calibri"/>
              </a:rPr>
              <a:t> </a:t>
            </a:r>
            <a:r>
              <a:rPr b="0" lang="en-US" sz="1800" spc="-1" strike="noStrike">
                <a:latin typeface="Calibri"/>
              </a:rPr>
              <a:t>generate log messages. This is normally used by streams modules and streams device drivers for either </a:t>
            </a:r>
            <a:r>
              <a:rPr b="0" i="1" lang="en-US" sz="1800" spc="-1" strike="noStrike">
                <a:latin typeface="Calibri"/>
              </a:rPr>
              <a:t>error messages</a:t>
            </a:r>
            <a:r>
              <a:rPr b="0" lang="en-US" sz="1800" spc="-1" strike="noStrike">
                <a:latin typeface="Calibri"/>
              </a:rPr>
              <a:t> </a:t>
            </a:r>
            <a:r>
              <a:rPr b="0" i="1" lang="en-US" sz="1800" spc="-1" strike="noStrike">
                <a:latin typeface="Calibri"/>
              </a:rPr>
              <a:t>or trace </a:t>
            </a:r>
            <a:r>
              <a:rPr b="0" lang="en-US" sz="1800" spc="-1" strike="noStrike">
                <a:latin typeface="Calibri"/>
              </a:rPr>
              <a:t>messages.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 u="heavy">
                <a:solidFill>
                  <a:srgbClr val="000000"/>
                </a:solidFill>
                <a:uFillTx/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en-US" sz="1800" spc="-1" strike="noStrike">
                <a:latin typeface="Calibri"/>
              </a:rPr>
              <a:t>User processes (such as a daemon) can </a:t>
            </a:r>
            <a:r>
              <a:rPr b="0" i="1" lang="en-US" sz="1800" spc="-1" strike="noStrike">
                <a:latin typeface="Calibri"/>
              </a:rPr>
              <a:t>putmsg </a:t>
            </a:r>
            <a:r>
              <a:rPr b="0" lang="en-US" sz="1800" spc="-1" strike="noStrike">
                <a:latin typeface="Calibri"/>
              </a:rPr>
              <a:t>to /dev/log. This message can be sent to any of the three loggers.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800" spc="-1" strike="noStrike" u="heavy">
                <a:solidFill>
                  <a:srgbClr val="000000"/>
                </a:solidFill>
                <a:uFillTx/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en-US" sz="1800" spc="-1" strike="noStrike">
                <a:latin typeface="Calibri"/>
              </a:rPr>
              <a:t>A user process (such as a daemon) can write to /dev/conslog. This message is sent only to the console logger.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400640" y="178920"/>
            <a:ext cx="3887640" cy="42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360000" y="1057320"/>
            <a:ext cx="11471760" cy="56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914400" algn="just">
              <a:lnSpc>
                <a:spcPct val="100000"/>
              </a:lnSpc>
              <a:buNone/>
            </a:pPr>
            <a:r>
              <a:rPr b="1" lang="en-US" sz="3200" spc="-1" strike="noStrike">
                <a:latin typeface="Calibri"/>
              </a:rPr>
              <a:t>Reading </a:t>
            </a:r>
            <a:r>
              <a:rPr b="1" i="1" lang="en-US" sz="3200" spc="-1" strike="noStrike">
                <a:latin typeface="Calibri"/>
              </a:rPr>
              <a:t>log</a:t>
            </a:r>
            <a:r>
              <a:rPr b="1" lang="en-US" sz="3200" spc="-1" strike="noStrike">
                <a:latin typeface="Calibri"/>
              </a:rPr>
              <a:t> messages: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normal error logger is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strerr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 It appends these messages to a file in the directory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/var/adm/strearms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 The file's name is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error.mm-dd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, where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mm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the month and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dd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the day of the month. This program, itself a daemon and it runs in the background, appending the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log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messages to the file.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normal trace logger is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strace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 It can selectively write a specified set of trace messages to its standard output.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standard console logger is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syslogd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 This program is a daemon that reads a configuration file and writes log messages to specified files or the console device or sends e-mail to certain users.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object 2"/>
          <p:cNvSpPr/>
          <p:nvPr/>
        </p:nvSpPr>
        <p:spPr>
          <a:xfrm>
            <a:off x="0" y="6333840"/>
            <a:ext cx="12189240" cy="63720"/>
          </a:xfrm>
          <a:custGeom>
            <a:avLst/>
            <a:gdLst/>
            <a:ah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e383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object 3"/>
          <p:cNvSpPr/>
          <p:nvPr/>
        </p:nvSpPr>
        <p:spPr>
          <a:xfrm>
            <a:off x="2589120" y="458640"/>
            <a:ext cx="7912080" cy="60012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3770280" y="61560"/>
            <a:ext cx="621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IN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IN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IN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ftr" idx="94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400" name="object 7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290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1" name="object 5"/>
          <p:cNvSpPr/>
          <p:nvPr/>
        </p:nvSpPr>
        <p:spPr>
          <a:xfrm>
            <a:off x="237600" y="754920"/>
            <a:ext cx="3155040" cy="17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4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Error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Logging 4.3+ BSD ‘ syslog( ) facility’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object 2"/>
          <p:cNvSpPr/>
          <p:nvPr/>
        </p:nvSpPr>
        <p:spPr>
          <a:xfrm>
            <a:off x="3770280" y="61560"/>
            <a:ext cx="62107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US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ftr" idx="95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404" name="object 6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291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5" name="object 3"/>
          <p:cNvSpPr/>
          <p:nvPr/>
        </p:nvSpPr>
        <p:spPr>
          <a:xfrm>
            <a:off x="364680" y="250560"/>
            <a:ext cx="315504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DAEMON</a:t>
            </a:r>
            <a:r>
              <a:rPr b="1" lang="en-US" sz="2800" spc="-4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 </a:t>
            </a: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en-US" sz="2800" spc="-12" strike="noStrike">
                <a:solidFill>
                  <a:srgbClr val="000000"/>
                </a:solidFill>
                <a:latin typeface="Calibri"/>
              </a:rPr>
              <a:t>Error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800" spc="-7" strike="noStrike">
                <a:solidFill>
                  <a:srgbClr val="000000"/>
                </a:solidFill>
                <a:latin typeface="Calibri"/>
              </a:rPr>
              <a:t>Logging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06" name="object 4"/>
          <p:cNvSpPr/>
          <p:nvPr/>
        </p:nvSpPr>
        <p:spPr>
          <a:xfrm>
            <a:off x="364680" y="1103760"/>
            <a:ext cx="11467800" cy="56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There are three </a:t>
            </a:r>
            <a:r>
              <a:rPr b="0" lang="en-US" sz="2800" spc="-32" strike="noStrike">
                <a:solidFill>
                  <a:srgbClr val="000000"/>
                </a:solidFill>
                <a:latin typeface="Calibri"/>
              </a:rPr>
              <a:t>ways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generate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log</a:t>
            </a:r>
            <a:r>
              <a:rPr b="0" lang="en-US" sz="2800" spc="9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messages:</a:t>
            </a:r>
            <a:endParaRPr b="0" lang="en-IN" sz="2800" spc="-1" strike="noStrike">
              <a:latin typeface="Arial"/>
            </a:endParaRPr>
          </a:p>
          <a:p>
            <a:pPr marL="527760" indent="-51552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527760"/>
                <a:tab algn="l" pos="528480"/>
              </a:tabLst>
            </a:pP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Kernel routines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can call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log</a:t>
            </a:r>
            <a:r>
              <a:rPr b="0" lang="en-US" sz="2800" spc="63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function.</a:t>
            </a:r>
            <a:endParaRPr b="0" lang="en-IN" sz="2800" spc="-1" strike="noStrike">
              <a:latin typeface="Arial"/>
            </a:endParaRPr>
          </a:p>
          <a:p>
            <a:pPr marL="498600">
              <a:lnSpc>
                <a:spcPct val="100000"/>
              </a:lnSpc>
              <a:buNone/>
              <a:tabLst>
                <a:tab algn="l" pos="527760"/>
                <a:tab algn="l" pos="528480"/>
              </a:tabLst>
            </a:pP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These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messages can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read by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any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user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that opens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reads</a:t>
            </a:r>
            <a:r>
              <a:rPr b="0" lang="en-US" sz="2800" spc="30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</a:t>
            </a:r>
            <a:endParaRPr b="0" lang="en-IN" sz="2800" spc="-1" strike="noStrike">
              <a:latin typeface="Arial"/>
            </a:endParaRPr>
          </a:p>
          <a:p>
            <a:pPr marL="498600">
              <a:lnSpc>
                <a:spcPct val="100000"/>
              </a:lnSpc>
              <a:buNone/>
              <a:tabLst>
                <a:tab algn="l" pos="527760"/>
                <a:tab algn="l" pos="52848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/dev/klog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device.</a:t>
            </a:r>
            <a:endParaRPr b="0" lang="en-IN" sz="2800" spc="-1" strike="noStrike">
              <a:latin typeface="Arial"/>
            </a:endParaRPr>
          </a:p>
          <a:p>
            <a:pPr marL="417960" indent="-405720">
              <a:lnSpc>
                <a:spcPct val="100000"/>
              </a:lnSpc>
              <a:buClr>
                <a:srgbClr val="000000"/>
              </a:buClr>
              <a:buFont typeface="Calibri"/>
              <a:buAutoNum type="arabicPeriod" startAt="2"/>
              <a:tabLst>
                <a:tab algn="l" pos="444960"/>
                <a:tab algn="l" pos="445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Most user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processes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(daemons) call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syslog(3)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function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generate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log  messages.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This causes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message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be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sent 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the UNIX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domain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datagram  socket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/dev/log.</a:t>
            </a:r>
            <a:endParaRPr b="0" lang="en-IN" sz="2800" spc="-1" strike="noStrike">
              <a:latin typeface="Arial"/>
            </a:endParaRPr>
          </a:p>
          <a:p>
            <a:pPr marL="417960" indent="-405720">
              <a:lnSpc>
                <a:spcPct val="100000"/>
              </a:lnSpc>
              <a:buClr>
                <a:srgbClr val="000000"/>
              </a:buClr>
              <a:buFont typeface="Calibri"/>
              <a:buAutoNum type="arabicPeriod" startAt="2"/>
              <a:tabLst>
                <a:tab algn="l" pos="444960"/>
                <a:tab algn="l" pos="445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user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on this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host,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or on some other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host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that is connected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this 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host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by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800" spc="-41" strike="noStrike">
                <a:solidFill>
                  <a:srgbClr val="000000"/>
                </a:solidFill>
                <a:latin typeface="Calibri"/>
              </a:rPr>
              <a:t>TCP/IP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network, can send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log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messages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UDP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port</a:t>
            </a:r>
            <a:r>
              <a:rPr b="0" lang="en-US" sz="2800" spc="28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514.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26"/>
              </a:spcBef>
              <a:buNone/>
              <a:tabLst>
                <a:tab algn="l" pos="444960"/>
                <a:tab algn="l" pos="44568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syslogd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 reads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all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three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forms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of log</a:t>
            </a:r>
            <a:r>
              <a:rPr b="0" lang="en-US" sz="2800" spc="16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messages.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577800"/>
                <a:tab algn="l" pos="1955880"/>
                <a:tab algn="l" pos="2626200"/>
                <a:tab algn="l" pos="3961800"/>
                <a:tab algn="l" pos="4896000"/>
                <a:tab algn="l" pos="5208120"/>
                <a:tab algn="l" pos="7273800"/>
                <a:tab algn="l" pos="7953480"/>
                <a:tab algn="l" pos="9101520"/>
              </a:tabLst>
            </a:pP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46" strike="noStrike">
                <a:solidFill>
                  <a:srgbClr val="000000"/>
                </a:solidFill>
                <a:latin typeface="Calibri"/>
              </a:rPr>
              <a:t>st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ar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-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up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hi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emon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52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ea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figu</a:t>
            </a:r>
            <a:r>
              <a:rPr b="0" lang="en-US" sz="2800" spc="-72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file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,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usual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y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55" strike="noStrike">
                <a:solidFill>
                  <a:srgbClr val="000000"/>
                </a:solidFill>
                <a:latin typeface="Calibri"/>
              </a:rPr>
              <a:t>/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2800" spc="-46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-55" strike="noStrike">
                <a:solidFill>
                  <a:srgbClr val="000000"/>
                </a:solidFill>
                <a:latin typeface="Calibri"/>
              </a:rPr>
              <a:t>/</a:t>
            </a:r>
            <a:r>
              <a:rPr b="0" lang="en-US" sz="2800" spc="-60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y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2800" spc="4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.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0" lang="en-US" sz="2800" spc="-191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,  which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determines where </a:t>
            </a:r>
            <a:r>
              <a:rPr b="0" lang="en-US" sz="2800" spc="-26" strike="noStrike">
                <a:solidFill>
                  <a:srgbClr val="000000"/>
                </a:solidFill>
                <a:latin typeface="Calibri"/>
              </a:rPr>
              <a:t>different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classes of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messages </a:t>
            </a:r>
            <a:r>
              <a:rPr b="0" lang="en-US" sz="2800" spc="-21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800" spc="16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sent.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object 2"/>
          <p:cNvSpPr/>
          <p:nvPr/>
        </p:nvSpPr>
        <p:spPr>
          <a:xfrm>
            <a:off x="3770280" y="61560"/>
            <a:ext cx="62107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US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ftr" idx="96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409" name="object 6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291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0" name="object 3"/>
          <p:cNvSpPr/>
          <p:nvPr/>
        </p:nvSpPr>
        <p:spPr>
          <a:xfrm>
            <a:off x="364680" y="250560"/>
            <a:ext cx="31550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Client – Server Model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11" name="object 4"/>
          <p:cNvSpPr/>
          <p:nvPr/>
        </p:nvSpPr>
        <p:spPr>
          <a:xfrm>
            <a:off x="364680" y="1103760"/>
            <a:ext cx="11467800" cy="34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most common use of a daemon process is as a server process.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general, a server is a process that waits for a client to contact it, requesting some type of service.</a:t>
            </a:r>
            <a:endParaRPr b="0" lang="en-IN" sz="2800" spc="-1" strike="noStrike">
              <a:latin typeface="Arial"/>
            </a:endParaRPr>
          </a:p>
          <a:p>
            <a:pPr lvl="1" marL="9270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e.g. inetd: is a server daemon, that listens on the system’s network interfaces for incoming requests for various network servers.</a:t>
            </a:r>
            <a:endParaRPr b="0" lang="en-IN" sz="2800" spc="-1" strike="noStrike">
              <a:latin typeface="Arial"/>
            </a:endParaRPr>
          </a:p>
          <a:p>
            <a:pPr lvl="1" marL="9270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Syslogd: this service provides logging of an error messages.</a:t>
            </a:r>
            <a:endParaRPr b="0" lang="en-IN" sz="2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Hence daemon processes are mainly used for client- server communication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object 2"/>
          <p:cNvSpPr/>
          <p:nvPr/>
        </p:nvSpPr>
        <p:spPr>
          <a:xfrm>
            <a:off x="3770280" y="61560"/>
            <a:ext cx="62107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IN" sz="2600" spc="-1" strike="noStrike">
                <a:solidFill>
                  <a:srgbClr val="17365d"/>
                </a:solidFill>
                <a:latin typeface="Cambria"/>
              </a:rPr>
              <a:t>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SIGNALS </a:t>
            </a:r>
            <a:r>
              <a:rPr b="0" lang="en-US" sz="2800" spc="-7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800" spc="-12" strike="noStrike">
                <a:solidFill>
                  <a:srgbClr val="000000"/>
                </a:solidFill>
                <a:latin typeface="Calibri"/>
              </a:rPr>
              <a:t>DAEMON</a:t>
            </a:r>
            <a:r>
              <a:rPr b="0" lang="en-US" sz="2800" spc="3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000000"/>
                </a:solidFill>
                <a:latin typeface="Calibri"/>
              </a:rPr>
              <a:t>PROCESSES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ftr" idx="97"/>
          </p:nvPr>
        </p:nvSpPr>
        <p:spPr>
          <a:xfrm>
            <a:off x="5360400" y="6583320"/>
            <a:ext cx="14742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955"/>
              </a:lnSpc>
              <a:buNone/>
              <a:defRPr b="0" lang="en-IN" sz="9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955"/>
              </a:lnSpc>
              <a:buNone/>
            </a:pPr>
            <a:r>
              <a:rPr b="0" lang="en-IN" sz="900" spc="-7" strike="noStrike">
                <a:solidFill>
                  <a:srgbClr val="ffffff"/>
                </a:solidFill>
                <a:latin typeface="Calibri"/>
              </a:rPr>
              <a:t>  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414" name="object 6"/>
          <p:cNvSpPr/>
          <p:nvPr/>
        </p:nvSpPr>
        <p:spPr>
          <a:xfrm>
            <a:off x="10904400" y="6575400"/>
            <a:ext cx="23076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100"/>
              </a:lnSpc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291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5" name="object 3"/>
          <p:cNvSpPr/>
          <p:nvPr/>
        </p:nvSpPr>
        <p:spPr>
          <a:xfrm>
            <a:off x="364680" y="250560"/>
            <a:ext cx="31550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</a:rPr>
              <a:t>Overview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16" name="object 4"/>
          <p:cNvSpPr/>
          <p:nvPr/>
        </p:nvSpPr>
        <p:spPr>
          <a:xfrm>
            <a:off x="364680" y="1103760"/>
            <a:ext cx="11467800" cy="35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What are daemons processes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Characteristics of daemon process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Coding rules for daemon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Error logging facility</a:t>
            </a:r>
            <a:endParaRPr b="0" lang="en-IN" sz="2800" spc="-1" strike="noStrike">
              <a:latin typeface="Arial"/>
            </a:endParaRPr>
          </a:p>
          <a:p>
            <a:pPr lvl="2" marL="13842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SVR 4</a:t>
            </a:r>
            <a:endParaRPr b="0" lang="en-IN" sz="2800" spc="-1" strike="noStrike">
              <a:latin typeface="Arial"/>
            </a:endParaRPr>
          </a:p>
          <a:p>
            <a:pPr lvl="2" marL="13842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4.3 BSD</a:t>
            </a:r>
            <a:endParaRPr b="0" lang="en-IN" sz="2800" spc="-1" strike="noStrike">
              <a:latin typeface="Arial"/>
            </a:endParaRPr>
          </a:p>
          <a:p>
            <a:pPr marL="469800" indent="-457200">
              <a:lnSpc>
                <a:spcPct val="100000"/>
              </a:lnSpc>
              <a:spcBef>
                <a:spcPts val="9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Client – Server Model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6"/>
              </a:spcBef>
              <a:buNone/>
            </a:pP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</TotalTime>
  <Application>LibreOffice/7.3.0.3$Linux_X86_64 LibreOffice_project/30$Build-3</Application>
  <AppVersion>15.0000</AppVersion>
  <Words>4507</Words>
  <Paragraphs>915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2020-09-01T07:37:42Z</dcterms:created>
  <dc:creator>syedmustafa</dc:creator>
  <dc:description/>
  <dc:language>en-IN</dc:language>
  <cp:lastModifiedBy/>
  <dcterms:modified xsi:type="dcterms:W3CDTF">2022-02-05T21:28:39Z</dcterms:modified>
  <cp:revision>47</cp:revision>
  <dc:subject/>
  <dc:title>UNIX SYSTEM PROGRAMMING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2020-09-01T00:00:00Z</vt:filetime>
  </property>
  <property fmtid="{D5CDD505-2E9C-101B-9397-08002B2CF9AE}" pid="5" name="PresentationFormat">
    <vt:lpwstr>Custom</vt:lpwstr>
  </property>
  <property fmtid="{D5CDD505-2E9C-101B-9397-08002B2CF9AE}" pid="6" name="Slides">
    <vt:i4>68</vt:i4>
  </property>
</Properties>
</file>